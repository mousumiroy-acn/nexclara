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00025"/>
            <a:ext cx="3581558" cy="94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spc="2" kern="0" dirty="0">
                <a:solidFill>
                  <a:srgbClr val="A100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EXECUTIVE SUMMARY — PROCESS TRANSFORMATION</a:t>
            </a:r>
            <a:endParaRPr lang="en-US" sz="500" dirty="0"/>
          </a:p>
        </p:txBody>
      </p:sp>
      <p:sp>
        <p:nvSpPr>
          <p:cNvPr id="4" name="Text 1"/>
          <p:cNvSpPr/>
          <p:nvPr/>
        </p:nvSpPr>
        <p:spPr>
          <a:xfrm>
            <a:off x="342900" y="337542"/>
            <a:ext cx="358155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1A1A1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Deal Approval: Current State vs. Future State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924458" y="334640"/>
            <a:ext cx="41135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450" spc="1" kern="0" dirty="0">
                <a:solidFill>
                  <a:srgbClr val="99999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CYCLE TIME</a:t>
            </a:r>
            <a:endParaRPr lang="en-US" sz="450" dirty="0"/>
          </a:p>
        </p:txBody>
      </p:sp>
      <p:sp>
        <p:nvSpPr>
          <p:cNvPr id="6" name="Text 3"/>
          <p:cNvSpPr/>
          <p:nvPr/>
        </p:nvSpPr>
        <p:spPr>
          <a:xfrm>
            <a:off x="3924458" y="506090"/>
            <a:ext cx="41135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9.2 days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507260" y="475729"/>
            <a:ext cx="114300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100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793010" y="395362"/>
            <a:ext cx="41135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450" spc="1" kern="0" dirty="0">
                <a:solidFill>
                  <a:srgbClr val="99999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CYCLE TIME</a:t>
            </a:r>
            <a:endParaRPr lang="en-US" sz="450" dirty="0"/>
          </a:p>
        </p:txBody>
      </p:sp>
      <p:sp>
        <p:nvSpPr>
          <p:cNvPr id="9" name="Text 6"/>
          <p:cNvSpPr/>
          <p:nvPr/>
        </p:nvSpPr>
        <p:spPr>
          <a:xfrm>
            <a:off x="4793010" y="566812"/>
            <a:ext cx="41135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6B1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&lt;3 days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649702" y="434653"/>
            <a:ext cx="426839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450" spc="1" kern="0" dirty="0">
                <a:solidFill>
                  <a:srgbClr val="99999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REJECTION</a:t>
            </a:r>
            <a:endParaRPr lang="en-US" sz="450" dirty="0"/>
          </a:p>
        </p:txBody>
      </p:sp>
      <p:sp>
        <p:nvSpPr>
          <p:cNvPr id="11" name="Text 8"/>
          <p:cNvSpPr/>
          <p:nvPr/>
        </p:nvSpPr>
        <p:spPr>
          <a:xfrm>
            <a:off x="5649702" y="527521"/>
            <a:ext cx="42683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46%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247991" y="475729"/>
            <a:ext cx="114300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100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533741" y="434653"/>
            <a:ext cx="426839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450" spc="1" kern="0" dirty="0">
                <a:solidFill>
                  <a:srgbClr val="99999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REJECTION</a:t>
            </a:r>
            <a:endParaRPr lang="en-US" sz="450" dirty="0"/>
          </a:p>
        </p:txBody>
      </p:sp>
      <p:sp>
        <p:nvSpPr>
          <p:cNvPr id="14" name="Text 11"/>
          <p:cNvSpPr/>
          <p:nvPr/>
        </p:nvSpPr>
        <p:spPr>
          <a:xfrm>
            <a:off x="6533741" y="527521"/>
            <a:ext cx="42683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6B1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&lt;12%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7405920" y="395362"/>
            <a:ext cx="46897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450" spc="1" kern="0" dirty="0">
                <a:solidFill>
                  <a:srgbClr val="99999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ARR LEAKAGE</a:t>
            </a:r>
            <a:endParaRPr lang="en-US" sz="450" dirty="0"/>
          </a:p>
        </p:txBody>
      </p:sp>
      <p:sp>
        <p:nvSpPr>
          <p:cNvPr id="16" name="Text 13"/>
          <p:cNvSpPr/>
          <p:nvPr/>
        </p:nvSpPr>
        <p:spPr>
          <a:xfrm>
            <a:off x="7405920" y="566812"/>
            <a:ext cx="46897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€25M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8046346" y="475729"/>
            <a:ext cx="114300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100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332096" y="395362"/>
            <a:ext cx="46897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450" spc="1" kern="0" dirty="0">
                <a:solidFill>
                  <a:srgbClr val="99999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ARR LEAKAGE</a:t>
            </a:r>
            <a:endParaRPr lang="en-US" sz="450" dirty="0"/>
          </a:p>
        </p:txBody>
      </p:sp>
      <p:sp>
        <p:nvSpPr>
          <p:cNvPr id="19" name="Text 16"/>
          <p:cNvSpPr/>
          <p:nvPr/>
        </p:nvSpPr>
        <p:spPr>
          <a:xfrm>
            <a:off x="8332096" y="566812"/>
            <a:ext cx="46897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6B1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€0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342900" y="863278"/>
            <a:ext cx="392906" cy="142875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21" name="Text 18"/>
          <p:cNvSpPr/>
          <p:nvPr/>
        </p:nvSpPr>
        <p:spPr>
          <a:xfrm>
            <a:off x="342900" y="863278"/>
            <a:ext cx="392906" cy="142875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450" b="1" spc="1" kern="0" dirty="0">
                <a:solidFill>
                  <a:srgbClr val="CC2222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TODAY</a:t>
            </a:r>
            <a:endParaRPr lang="en-US" sz="450" dirty="0"/>
          </a:p>
        </p:txBody>
      </p:sp>
      <p:sp>
        <p:nvSpPr>
          <p:cNvPr id="22" name="Text 19"/>
          <p:cNvSpPr/>
          <p:nvPr/>
        </p:nvSpPr>
        <p:spPr>
          <a:xfrm>
            <a:off x="792956" y="886495"/>
            <a:ext cx="2121694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CC222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Post-submission validation — errors discovered too late</a:t>
            </a:r>
            <a:endParaRPr lang="en-US" sz="550" dirty="0"/>
          </a:p>
        </p:txBody>
      </p:sp>
      <p:sp>
        <p:nvSpPr>
          <p:cNvPr id="23" name="Text 20"/>
          <p:cNvSpPr/>
          <p:nvPr/>
        </p:nvSpPr>
        <p:spPr>
          <a:xfrm>
            <a:off x="453628" y="1239748"/>
            <a:ext cx="3429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00" b="1" dirty="0">
                <a:solidFill>
                  <a:srgbClr val="5555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Account</a:t>
            </a:r>
            <a:r>
              <a:rPr lang="en-US" sz="500" b="1" dirty="0">
                <a:solidFill>
                  <a:srgbClr val="5555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
</a:t>
            </a:r>
            <a:r>
              <a:rPr lang="en-US" sz="500" b="1" dirty="0">
                <a:solidFill>
                  <a:srgbClr val="5555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Executive</a:t>
            </a:r>
            <a:endParaRPr lang="en-US" sz="500" dirty="0"/>
          </a:p>
        </p:txBody>
      </p:sp>
      <p:sp>
        <p:nvSpPr>
          <p:cNvPr id="24" name="Shape 21"/>
          <p:cNvSpPr/>
          <p:nvPr/>
        </p:nvSpPr>
        <p:spPr>
          <a:xfrm>
            <a:off x="971550" y="1191890"/>
            <a:ext cx="767953" cy="281453"/>
          </a:xfrm>
          <a:prstGeom prst="rect">
            <a:avLst/>
          </a:prstGeom>
          <a:solidFill>
            <a:srgbClr val="F8F8F8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71550" y="1191890"/>
            <a:ext cx="767953" cy="281453"/>
          </a:xfrm>
          <a:prstGeom prst="rect">
            <a:avLst/>
          </a:prstGeom>
          <a:noFill/>
          <a:ln/>
        </p:spPr>
        <p:txBody>
          <a:bodyPr wrap="square" lIns="68072" tIns="59563" rIns="68072" bIns="59563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Configure quote</a:t>
            </a:r>
            <a:r>
              <a:rPr lang="en-US" sz="45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
</a:t>
            </a:r>
            <a:r>
              <a:rPr lang="en-US" sz="45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(no guidance)</a:t>
            </a:r>
            <a:endParaRPr lang="en-US" sz="450" dirty="0"/>
          </a:p>
        </p:txBody>
      </p:sp>
      <p:sp>
        <p:nvSpPr>
          <p:cNvPr id="26" name="Text 23"/>
          <p:cNvSpPr/>
          <p:nvPr/>
        </p:nvSpPr>
        <p:spPr>
          <a:xfrm>
            <a:off x="1757363" y="1290647"/>
            <a:ext cx="71438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500" dirty="0"/>
          </a:p>
        </p:txBody>
      </p:sp>
      <p:sp>
        <p:nvSpPr>
          <p:cNvPr id="27" name="Shape 24"/>
          <p:cNvSpPr/>
          <p:nvPr/>
        </p:nvSpPr>
        <p:spPr>
          <a:xfrm>
            <a:off x="1857375" y="1233664"/>
            <a:ext cx="771525" cy="197876"/>
          </a:xfrm>
          <a:prstGeom prst="rect">
            <a:avLst/>
          </a:prstGeom>
          <a:solidFill>
            <a:srgbClr val="F8F8F8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857375" y="1233664"/>
            <a:ext cx="771525" cy="197876"/>
          </a:xfrm>
          <a:prstGeom prst="rect">
            <a:avLst/>
          </a:prstGeom>
          <a:noFill/>
          <a:ln/>
        </p:spPr>
        <p:txBody>
          <a:bodyPr wrap="square" lIns="68072" tIns="59563" rIns="68072" bIns="59563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Submit blind</a:t>
            </a:r>
            <a:endParaRPr lang="en-US" sz="450" dirty="0"/>
          </a:p>
        </p:txBody>
      </p:sp>
      <p:sp>
        <p:nvSpPr>
          <p:cNvPr id="29" name="Text 26"/>
          <p:cNvSpPr/>
          <p:nvPr/>
        </p:nvSpPr>
        <p:spPr>
          <a:xfrm>
            <a:off x="2650331" y="1290647"/>
            <a:ext cx="71438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500" dirty="0"/>
          </a:p>
        </p:txBody>
      </p:sp>
      <p:sp>
        <p:nvSpPr>
          <p:cNvPr id="30" name="Text 27"/>
          <p:cNvSpPr/>
          <p:nvPr/>
        </p:nvSpPr>
        <p:spPr>
          <a:xfrm>
            <a:off x="2750344" y="1233664"/>
            <a:ext cx="775097" cy="197876"/>
          </a:xfrm>
          <a:prstGeom prst="rect">
            <a:avLst/>
          </a:prstGeom>
          <a:noFill/>
          <a:ln/>
        </p:spPr>
        <p:txBody>
          <a:bodyPr wrap="square" lIns="68072" tIns="59563" rIns="68072" bIns="59563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CCCC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Waiting...</a:t>
            </a:r>
            <a:endParaRPr lang="en-US" sz="450" dirty="0"/>
          </a:p>
        </p:txBody>
      </p:sp>
      <p:sp>
        <p:nvSpPr>
          <p:cNvPr id="31" name="Text 28"/>
          <p:cNvSpPr/>
          <p:nvPr/>
        </p:nvSpPr>
        <p:spPr>
          <a:xfrm>
            <a:off x="3554016" y="1290647"/>
            <a:ext cx="71438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500" dirty="0"/>
          </a:p>
        </p:txBody>
      </p:sp>
      <p:sp>
        <p:nvSpPr>
          <p:cNvPr id="32" name="Shape 29"/>
          <p:cNvSpPr/>
          <p:nvPr/>
        </p:nvSpPr>
        <p:spPr>
          <a:xfrm>
            <a:off x="3654028" y="1191890"/>
            <a:ext cx="775097" cy="281453"/>
          </a:xfrm>
          <a:prstGeom prst="rect">
            <a:avLst/>
          </a:prstGeom>
          <a:solidFill>
            <a:srgbClr val="FFF5F5"/>
          </a:solidFill>
          <a:ln w="9144">
            <a:solidFill>
              <a:srgbClr val="FFCCC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872805" y="1243682"/>
            <a:ext cx="348258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CC222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Guess fix &amp;</a:t>
            </a:r>
            <a:endParaRPr lang="en-US" sz="450" dirty="0"/>
          </a:p>
        </p:txBody>
      </p:sp>
      <p:sp>
        <p:nvSpPr>
          <p:cNvPr id="34" name="Text 31"/>
          <p:cNvSpPr/>
          <p:nvPr/>
        </p:nvSpPr>
        <p:spPr>
          <a:xfrm>
            <a:off x="3838873" y="1327259"/>
            <a:ext cx="416123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CC222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resubmit 1.8×</a:t>
            </a:r>
            <a:endParaRPr lang="en-US" sz="450" dirty="0"/>
          </a:p>
        </p:txBody>
      </p:sp>
      <p:sp>
        <p:nvSpPr>
          <p:cNvPr id="35" name="Text 32"/>
          <p:cNvSpPr/>
          <p:nvPr/>
        </p:nvSpPr>
        <p:spPr>
          <a:xfrm>
            <a:off x="4355902" y="1206178"/>
            <a:ext cx="51792" cy="7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00" dirty="0">
                <a:solidFill>
                  <a:srgbClr val="CC222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⚠</a:t>
            </a:r>
            <a:endParaRPr lang="en-US" sz="400" dirty="0"/>
          </a:p>
        </p:txBody>
      </p:sp>
      <p:sp>
        <p:nvSpPr>
          <p:cNvPr id="36" name="Text 33"/>
          <p:cNvSpPr/>
          <p:nvPr/>
        </p:nvSpPr>
        <p:spPr>
          <a:xfrm>
            <a:off x="444698" y="1905484"/>
            <a:ext cx="36075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00" b="1" dirty="0">
                <a:solidFill>
                  <a:srgbClr val="5555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D365 CPQ</a:t>
            </a:r>
            <a:r>
              <a:rPr lang="en-US" sz="500" b="1" dirty="0">
                <a:solidFill>
                  <a:srgbClr val="5555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
</a:t>
            </a:r>
            <a:r>
              <a:rPr lang="en-US" sz="500" b="1" dirty="0">
                <a:solidFill>
                  <a:srgbClr val="5555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Platform</a:t>
            </a:r>
            <a:endParaRPr lang="en-US" sz="500" dirty="0"/>
          </a:p>
        </p:txBody>
      </p:sp>
      <p:sp>
        <p:nvSpPr>
          <p:cNvPr id="37" name="Text 34"/>
          <p:cNvSpPr/>
          <p:nvPr/>
        </p:nvSpPr>
        <p:spPr>
          <a:xfrm>
            <a:off x="971550" y="1899400"/>
            <a:ext cx="767953" cy="197876"/>
          </a:xfrm>
          <a:prstGeom prst="rect">
            <a:avLst/>
          </a:prstGeom>
          <a:noFill/>
          <a:ln/>
        </p:spPr>
        <p:txBody>
          <a:bodyPr wrap="square" lIns="68072" tIns="59563" rIns="68072" bIns="59563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CCCC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 validation</a:t>
            </a:r>
            <a:endParaRPr lang="en-US" sz="450" dirty="0"/>
          </a:p>
        </p:txBody>
      </p:sp>
      <p:sp>
        <p:nvSpPr>
          <p:cNvPr id="38" name="Text 35"/>
          <p:cNvSpPr/>
          <p:nvPr/>
        </p:nvSpPr>
        <p:spPr>
          <a:xfrm>
            <a:off x="1768078" y="1956383"/>
            <a:ext cx="71438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500" dirty="0"/>
          </a:p>
        </p:txBody>
      </p:sp>
      <p:sp>
        <p:nvSpPr>
          <p:cNvPr id="39" name="Shape 36"/>
          <p:cNvSpPr/>
          <p:nvPr/>
        </p:nvSpPr>
        <p:spPr>
          <a:xfrm>
            <a:off x="1868091" y="1857626"/>
            <a:ext cx="767953" cy="281453"/>
          </a:xfrm>
          <a:prstGeom prst="rect">
            <a:avLst/>
          </a:prstGeom>
          <a:solidFill>
            <a:srgbClr val="FFF5F5"/>
          </a:solidFill>
          <a:ln w="9144">
            <a:solidFill>
              <a:srgbClr val="FFCCC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060972" y="1916562"/>
            <a:ext cx="378619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CC222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Post-submit</a:t>
            </a:r>
            <a:endParaRPr lang="en-US" sz="450" dirty="0"/>
          </a:p>
        </p:txBody>
      </p:sp>
      <p:sp>
        <p:nvSpPr>
          <p:cNvPr id="41" name="Text 38"/>
          <p:cNvSpPr/>
          <p:nvPr/>
        </p:nvSpPr>
        <p:spPr>
          <a:xfrm>
            <a:off x="2022574" y="2000138"/>
            <a:ext cx="455414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CC222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validation fires</a:t>
            </a:r>
            <a:endParaRPr lang="en-US" sz="450" dirty="0"/>
          </a:p>
        </p:txBody>
      </p:sp>
      <p:sp>
        <p:nvSpPr>
          <p:cNvPr id="42" name="Text 39"/>
          <p:cNvSpPr/>
          <p:nvPr/>
        </p:nvSpPr>
        <p:spPr>
          <a:xfrm>
            <a:off x="2555677" y="1879057"/>
            <a:ext cx="51792" cy="7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00" dirty="0">
                <a:solidFill>
                  <a:srgbClr val="CC222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⚠</a:t>
            </a:r>
            <a:endParaRPr lang="en-US" sz="400" dirty="0"/>
          </a:p>
        </p:txBody>
      </p:sp>
      <p:sp>
        <p:nvSpPr>
          <p:cNvPr id="43" name="Text 40"/>
          <p:cNvSpPr/>
          <p:nvPr/>
        </p:nvSpPr>
        <p:spPr>
          <a:xfrm>
            <a:off x="2657475" y="1956383"/>
            <a:ext cx="71438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500" dirty="0"/>
          </a:p>
        </p:txBody>
      </p:sp>
      <p:sp>
        <p:nvSpPr>
          <p:cNvPr id="44" name="Shape 41"/>
          <p:cNvSpPr/>
          <p:nvPr/>
        </p:nvSpPr>
        <p:spPr>
          <a:xfrm>
            <a:off x="2757488" y="1857626"/>
            <a:ext cx="771525" cy="281453"/>
          </a:xfrm>
          <a:prstGeom prst="rect">
            <a:avLst/>
          </a:prstGeom>
          <a:solidFill>
            <a:srgbClr val="FFF5F5"/>
          </a:solidFill>
          <a:ln w="9144">
            <a:solidFill>
              <a:srgbClr val="FFCCC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947690" y="1916562"/>
            <a:ext cx="394692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CC222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Cryptic error</a:t>
            </a:r>
            <a:endParaRPr lang="en-US" sz="450" dirty="0"/>
          </a:p>
        </p:txBody>
      </p:sp>
      <p:sp>
        <p:nvSpPr>
          <p:cNvPr id="46" name="Text 43"/>
          <p:cNvSpPr/>
          <p:nvPr/>
        </p:nvSpPr>
        <p:spPr>
          <a:xfrm>
            <a:off x="2910185" y="2000138"/>
            <a:ext cx="469702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CC222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codes returned</a:t>
            </a:r>
            <a:endParaRPr lang="en-US" sz="450" dirty="0"/>
          </a:p>
        </p:txBody>
      </p:sp>
      <p:sp>
        <p:nvSpPr>
          <p:cNvPr id="47" name="Text 44"/>
          <p:cNvSpPr/>
          <p:nvPr/>
        </p:nvSpPr>
        <p:spPr>
          <a:xfrm>
            <a:off x="3452217" y="1879057"/>
            <a:ext cx="51792" cy="7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00" dirty="0">
                <a:solidFill>
                  <a:srgbClr val="CC222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⚠</a:t>
            </a:r>
            <a:endParaRPr lang="en-US" sz="400" dirty="0"/>
          </a:p>
        </p:txBody>
      </p:sp>
      <p:sp>
        <p:nvSpPr>
          <p:cNvPr id="48" name="Text 45"/>
          <p:cNvSpPr/>
          <p:nvPr/>
        </p:nvSpPr>
        <p:spPr>
          <a:xfrm>
            <a:off x="3554016" y="1956383"/>
            <a:ext cx="71438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500" dirty="0"/>
          </a:p>
        </p:txBody>
      </p:sp>
      <p:sp>
        <p:nvSpPr>
          <p:cNvPr id="49" name="Shape 46"/>
          <p:cNvSpPr/>
          <p:nvPr/>
        </p:nvSpPr>
        <p:spPr>
          <a:xfrm>
            <a:off x="3654028" y="1857626"/>
            <a:ext cx="775097" cy="281453"/>
          </a:xfrm>
          <a:prstGeom prst="rect">
            <a:avLst/>
          </a:prstGeom>
          <a:solidFill>
            <a:srgbClr val="FFF5F5"/>
          </a:solidFill>
          <a:ln w="9144">
            <a:solidFill>
              <a:srgbClr val="FFCCC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860304" y="1916562"/>
            <a:ext cx="373261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CC222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ServiceNow</a:t>
            </a:r>
            <a:endParaRPr lang="en-US" sz="450" dirty="0"/>
          </a:p>
        </p:txBody>
      </p:sp>
      <p:sp>
        <p:nvSpPr>
          <p:cNvPr id="51" name="Text 48"/>
          <p:cNvSpPr/>
          <p:nvPr/>
        </p:nvSpPr>
        <p:spPr>
          <a:xfrm>
            <a:off x="3791545" y="2000138"/>
            <a:ext cx="510778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CC222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ticket (2–5 days)</a:t>
            </a:r>
            <a:endParaRPr lang="en-US" sz="450" dirty="0"/>
          </a:p>
        </p:txBody>
      </p:sp>
      <p:sp>
        <p:nvSpPr>
          <p:cNvPr id="52" name="Text 49"/>
          <p:cNvSpPr/>
          <p:nvPr/>
        </p:nvSpPr>
        <p:spPr>
          <a:xfrm>
            <a:off x="4355902" y="1879057"/>
            <a:ext cx="51792" cy="7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00" dirty="0">
                <a:solidFill>
                  <a:srgbClr val="CC222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⚠</a:t>
            </a:r>
            <a:endParaRPr lang="en-US" sz="400" dirty="0"/>
          </a:p>
        </p:txBody>
      </p:sp>
      <p:sp>
        <p:nvSpPr>
          <p:cNvPr id="53" name="Text 50"/>
          <p:cNvSpPr/>
          <p:nvPr/>
        </p:nvSpPr>
        <p:spPr>
          <a:xfrm>
            <a:off x="429518" y="2894781"/>
            <a:ext cx="39112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00" b="1" dirty="0">
                <a:solidFill>
                  <a:srgbClr val="5555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Deal Desk /</a:t>
            </a:r>
            <a:r>
              <a:rPr lang="en-US" sz="500" b="1" dirty="0">
                <a:solidFill>
                  <a:srgbClr val="5555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
</a:t>
            </a:r>
            <a:r>
              <a:rPr lang="en-US" sz="500" b="1" dirty="0">
                <a:solidFill>
                  <a:srgbClr val="5555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Approver</a:t>
            </a:r>
            <a:endParaRPr lang="en-US" sz="500" dirty="0"/>
          </a:p>
        </p:txBody>
      </p:sp>
      <p:sp>
        <p:nvSpPr>
          <p:cNvPr id="54" name="Text 51"/>
          <p:cNvSpPr/>
          <p:nvPr/>
        </p:nvSpPr>
        <p:spPr>
          <a:xfrm>
            <a:off x="971550" y="2888726"/>
            <a:ext cx="767953" cy="197876"/>
          </a:xfrm>
          <a:prstGeom prst="rect">
            <a:avLst/>
          </a:prstGeom>
          <a:noFill/>
          <a:ln/>
        </p:spPr>
        <p:txBody>
          <a:bodyPr wrap="square" lIns="68072" tIns="59563" rIns="68072" bIns="59563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CCCC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—</a:t>
            </a:r>
            <a:endParaRPr lang="en-US" sz="450" dirty="0"/>
          </a:p>
        </p:txBody>
      </p:sp>
      <p:sp>
        <p:nvSpPr>
          <p:cNvPr id="55" name="Text 52"/>
          <p:cNvSpPr/>
          <p:nvPr/>
        </p:nvSpPr>
        <p:spPr>
          <a:xfrm>
            <a:off x="1768078" y="2945681"/>
            <a:ext cx="71438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500" dirty="0"/>
          </a:p>
        </p:txBody>
      </p:sp>
      <p:sp>
        <p:nvSpPr>
          <p:cNvPr id="56" name="Text 53"/>
          <p:cNvSpPr/>
          <p:nvPr/>
        </p:nvSpPr>
        <p:spPr>
          <a:xfrm>
            <a:off x="1868091" y="2888726"/>
            <a:ext cx="767953" cy="197876"/>
          </a:xfrm>
          <a:prstGeom prst="rect">
            <a:avLst/>
          </a:prstGeom>
          <a:noFill/>
          <a:ln/>
        </p:spPr>
        <p:txBody>
          <a:bodyPr wrap="square" lIns="68072" tIns="59563" rIns="68072" bIns="59563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CCCC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—</a:t>
            </a:r>
            <a:endParaRPr lang="en-US" sz="450" dirty="0"/>
          </a:p>
        </p:txBody>
      </p:sp>
      <p:sp>
        <p:nvSpPr>
          <p:cNvPr id="57" name="Text 54"/>
          <p:cNvSpPr/>
          <p:nvPr/>
        </p:nvSpPr>
        <p:spPr>
          <a:xfrm>
            <a:off x="2664619" y="2945681"/>
            <a:ext cx="71438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500" dirty="0"/>
          </a:p>
        </p:txBody>
      </p:sp>
      <p:sp>
        <p:nvSpPr>
          <p:cNvPr id="58" name="Shape 55"/>
          <p:cNvSpPr/>
          <p:nvPr/>
        </p:nvSpPr>
        <p:spPr>
          <a:xfrm>
            <a:off x="2764631" y="2846924"/>
            <a:ext cx="767953" cy="281453"/>
          </a:xfrm>
          <a:prstGeom prst="rect">
            <a:avLst/>
          </a:prstGeom>
          <a:solidFill>
            <a:srgbClr val="FFF5F5"/>
          </a:solidFill>
          <a:ln w="9144">
            <a:solidFill>
              <a:srgbClr val="FFCCC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2971800" y="2905860"/>
            <a:ext cx="357188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CC222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Reject 46%</a:t>
            </a:r>
            <a:endParaRPr lang="en-US" sz="450" dirty="0"/>
          </a:p>
        </p:txBody>
      </p:sp>
      <p:sp>
        <p:nvSpPr>
          <p:cNvPr id="60" name="Text 57"/>
          <p:cNvSpPr/>
          <p:nvPr/>
        </p:nvSpPr>
        <p:spPr>
          <a:xfrm>
            <a:off x="2915543" y="2989436"/>
            <a:ext cx="469702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CC222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of submissions</a:t>
            </a:r>
            <a:endParaRPr lang="en-US" sz="450" dirty="0"/>
          </a:p>
        </p:txBody>
      </p:sp>
      <p:sp>
        <p:nvSpPr>
          <p:cNvPr id="61" name="Text 58"/>
          <p:cNvSpPr/>
          <p:nvPr/>
        </p:nvSpPr>
        <p:spPr>
          <a:xfrm>
            <a:off x="3455789" y="2868355"/>
            <a:ext cx="51792" cy="7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00" dirty="0">
                <a:solidFill>
                  <a:srgbClr val="CC222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⚠</a:t>
            </a:r>
            <a:endParaRPr lang="en-US" sz="400" dirty="0"/>
          </a:p>
        </p:txBody>
      </p:sp>
      <p:sp>
        <p:nvSpPr>
          <p:cNvPr id="62" name="Text 59"/>
          <p:cNvSpPr/>
          <p:nvPr/>
        </p:nvSpPr>
        <p:spPr>
          <a:xfrm>
            <a:off x="3557588" y="2945681"/>
            <a:ext cx="71438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500" dirty="0"/>
          </a:p>
        </p:txBody>
      </p:sp>
      <p:sp>
        <p:nvSpPr>
          <p:cNvPr id="63" name="Shape 60"/>
          <p:cNvSpPr/>
          <p:nvPr/>
        </p:nvSpPr>
        <p:spPr>
          <a:xfrm>
            <a:off x="3657600" y="2846924"/>
            <a:ext cx="771525" cy="281453"/>
          </a:xfrm>
          <a:prstGeom prst="rect">
            <a:avLst/>
          </a:prstGeom>
          <a:solidFill>
            <a:srgbClr val="F8F8F8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3657600" y="2846924"/>
            <a:ext cx="771525" cy="281453"/>
          </a:xfrm>
          <a:prstGeom prst="rect">
            <a:avLst/>
          </a:prstGeom>
          <a:noFill/>
          <a:ln/>
        </p:spPr>
        <p:txBody>
          <a:bodyPr wrap="square" lIns="68072" tIns="59563" rIns="68072" bIns="59563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Eventually</a:t>
            </a:r>
            <a:r>
              <a:rPr lang="en-US" sz="45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
</a:t>
            </a:r>
            <a:r>
              <a:rPr lang="en-US" sz="45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approve (9.2d)</a:t>
            </a:r>
            <a:endParaRPr lang="en-US" sz="450" dirty="0"/>
          </a:p>
        </p:txBody>
      </p:sp>
      <p:sp>
        <p:nvSpPr>
          <p:cNvPr id="65" name="Shape 62"/>
          <p:cNvSpPr/>
          <p:nvPr/>
        </p:nvSpPr>
        <p:spPr>
          <a:xfrm>
            <a:off x="4657725" y="863278"/>
            <a:ext cx="442913" cy="142875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66" name="Text 63"/>
          <p:cNvSpPr/>
          <p:nvPr/>
        </p:nvSpPr>
        <p:spPr>
          <a:xfrm>
            <a:off x="4657725" y="863278"/>
            <a:ext cx="442913" cy="142875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450" b="1" spc="1" kern="0" dirty="0">
                <a:solidFill>
                  <a:srgbClr val="1A6B1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FUTURE</a:t>
            </a:r>
            <a:endParaRPr lang="en-US" sz="450" dirty="0"/>
          </a:p>
        </p:txBody>
      </p:sp>
      <p:sp>
        <p:nvSpPr>
          <p:cNvPr id="67" name="Text 64"/>
          <p:cNvSpPr/>
          <p:nvPr/>
        </p:nvSpPr>
        <p:spPr>
          <a:xfrm>
            <a:off x="5157788" y="886495"/>
            <a:ext cx="2750344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1A6B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Real-time intelligence during configuration — issues fixed before submit</a:t>
            </a:r>
            <a:endParaRPr lang="en-US" sz="550" dirty="0"/>
          </a:p>
        </p:txBody>
      </p:sp>
      <p:sp>
        <p:nvSpPr>
          <p:cNvPr id="68" name="Text 65"/>
          <p:cNvSpPr/>
          <p:nvPr/>
        </p:nvSpPr>
        <p:spPr>
          <a:xfrm>
            <a:off x="4768453" y="1239748"/>
            <a:ext cx="3429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00" b="1" dirty="0">
                <a:solidFill>
                  <a:srgbClr val="5555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Account</a:t>
            </a:r>
            <a:r>
              <a:rPr lang="en-US" sz="500" b="1" dirty="0">
                <a:solidFill>
                  <a:srgbClr val="5555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
</a:t>
            </a:r>
            <a:r>
              <a:rPr lang="en-US" sz="500" b="1" dirty="0">
                <a:solidFill>
                  <a:srgbClr val="5555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Executive</a:t>
            </a:r>
            <a:endParaRPr lang="en-US" sz="500" dirty="0"/>
          </a:p>
        </p:txBody>
      </p:sp>
      <p:sp>
        <p:nvSpPr>
          <p:cNvPr id="69" name="Shape 66"/>
          <p:cNvSpPr/>
          <p:nvPr/>
        </p:nvSpPr>
        <p:spPr>
          <a:xfrm>
            <a:off x="5286375" y="1191890"/>
            <a:ext cx="767953" cy="281453"/>
          </a:xfrm>
          <a:prstGeom prst="rect">
            <a:avLst/>
          </a:prstGeom>
          <a:solidFill>
            <a:srgbClr val="F4ECFF"/>
          </a:solidFill>
          <a:ln w="9144">
            <a:solidFill>
              <a:srgbClr val="D9B3FF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5436394" y="1250826"/>
            <a:ext cx="457200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4A00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Configure with</a:t>
            </a:r>
            <a:endParaRPr lang="en-US" sz="450" dirty="0"/>
          </a:p>
        </p:txBody>
      </p:sp>
      <p:sp>
        <p:nvSpPr>
          <p:cNvPr id="71" name="Text 68"/>
          <p:cNvSpPr/>
          <p:nvPr/>
        </p:nvSpPr>
        <p:spPr>
          <a:xfrm>
            <a:off x="5460504" y="1334402"/>
            <a:ext cx="408980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4A00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live guidance</a:t>
            </a:r>
            <a:endParaRPr lang="en-US" sz="450" dirty="0"/>
          </a:p>
        </p:txBody>
      </p:sp>
      <p:sp>
        <p:nvSpPr>
          <p:cNvPr id="72" name="Text 69"/>
          <p:cNvSpPr/>
          <p:nvPr/>
        </p:nvSpPr>
        <p:spPr>
          <a:xfrm>
            <a:off x="5973961" y="1213321"/>
            <a:ext cx="48220" cy="7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00" dirty="0">
                <a:solidFill>
                  <a:srgbClr val="1A6B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✓</a:t>
            </a:r>
            <a:endParaRPr lang="en-US" sz="400" dirty="0"/>
          </a:p>
        </p:txBody>
      </p:sp>
      <p:sp>
        <p:nvSpPr>
          <p:cNvPr id="73" name="Text 70"/>
          <p:cNvSpPr/>
          <p:nvPr/>
        </p:nvSpPr>
        <p:spPr>
          <a:xfrm>
            <a:off x="6072188" y="1290647"/>
            <a:ext cx="71438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500" dirty="0"/>
          </a:p>
        </p:txBody>
      </p:sp>
      <p:sp>
        <p:nvSpPr>
          <p:cNvPr id="74" name="Shape 71"/>
          <p:cNvSpPr/>
          <p:nvPr/>
        </p:nvSpPr>
        <p:spPr>
          <a:xfrm>
            <a:off x="6172200" y="1191890"/>
            <a:ext cx="771525" cy="281453"/>
          </a:xfrm>
          <a:prstGeom prst="rect">
            <a:avLst/>
          </a:prstGeom>
          <a:solidFill>
            <a:srgbClr val="F4ECFF"/>
          </a:solidFill>
          <a:ln w="9144">
            <a:solidFill>
              <a:srgbClr val="D9B3FF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6403479" y="1250826"/>
            <a:ext cx="305395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4A00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Fix issues</a:t>
            </a:r>
            <a:endParaRPr lang="en-US" sz="450" dirty="0"/>
          </a:p>
        </p:txBody>
      </p:sp>
      <p:sp>
        <p:nvSpPr>
          <p:cNvPr id="76" name="Text 73"/>
          <p:cNvSpPr/>
          <p:nvPr/>
        </p:nvSpPr>
        <p:spPr>
          <a:xfrm>
            <a:off x="6341864" y="1334402"/>
            <a:ext cx="428625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4A00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inline (1-click)</a:t>
            </a:r>
            <a:endParaRPr lang="en-US" sz="450" dirty="0"/>
          </a:p>
        </p:txBody>
      </p:sp>
      <p:sp>
        <p:nvSpPr>
          <p:cNvPr id="77" name="Text 74"/>
          <p:cNvSpPr/>
          <p:nvPr/>
        </p:nvSpPr>
        <p:spPr>
          <a:xfrm>
            <a:off x="6866930" y="1213321"/>
            <a:ext cx="48220" cy="7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00" dirty="0">
                <a:solidFill>
                  <a:srgbClr val="1A6B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✓</a:t>
            </a:r>
            <a:endParaRPr lang="en-US" sz="400" dirty="0"/>
          </a:p>
        </p:txBody>
      </p:sp>
      <p:sp>
        <p:nvSpPr>
          <p:cNvPr id="78" name="Text 75"/>
          <p:cNvSpPr/>
          <p:nvPr/>
        </p:nvSpPr>
        <p:spPr>
          <a:xfrm>
            <a:off x="6965156" y="1290647"/>
            <a:ext cx="71438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500" dirty="0"/>
          </a:p>
        </p:txBody>
      </p:sp>
      <p:sp>
        <p:nvSpPr>
          <p:cNvPr id="79" name="Shape 76"/>
          <p:cNvSpPr/>
          <p:nvPr/>
        </p:nvSpPr>
        <p:spPr>
          <a:xfrm>
            <a:off x="7065169" y="1191890"/>
            <a:ext cx="775097" cy="281453"/>
          </a:xfrm>
          <a:prstGeom prst="rect">
            <a:avLst/>
          </a:prstGeom>
          <a:solidFill>
            <a:srgbClr val="F0FFF0"/>
          </a:solidFill>
          <a:ln w="9144">
            <a:solidFill>
              <a:srgbClr val="AADDAA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7254478" y="1250826"/>
            <a:ext cx="400050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1A6B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Submit clean</a:t>
            </a:r>
            <a:endParaRPr lang="en-US" sz="450" dirty="0"/>
          </a:p>
        </p:txBody>
      </p:sp>
      <p:sp>
        <p:nvSpPr>
          <p:cNvPr id="81" name="Text 78"/>
          <p:cNvSpPr/>
          <p:nvPr/>
        </p:nvSpPr>
        <p:spPr>
          <a:xfrm>
            <a:off x="7365206" y="1334402"/>
            <a:ext cx="178594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1A6B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quote</a:t>
            </a:r>
            <a:endParaRPr lang="en-US" sz="450" dirty="0"/>
          </a:p>
        </p:txBody>
      </p:sp>
      <p:sp>
        <p:nvSpPr>
          <p:cNvPr id="82" name="Text 79"/>
          <p:cNvSpPr/>
          <p:nvPr/>
        </p:nvSpPr>
        <p:spPr>
          <a:xfrm>
            <a:off x="7767042" y="1213321"/>
            <a:ext cx="48220" cy="7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00" dirty="0">
                <a:solidFill>
                  <a:srgbClr val="1A6B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✓</a:t>
            </a:r>
            <a:endParaRPr lang="en-US" sz="400" dirty="0"/>
          </a:p>
        </p:txBody>
      </p:sp>
      <p:sp>
        <p:nvSpPr>
          <p:cNvPr id="83" name="Text 80"/>
          <p:cNvSpPr/>
          <p:nvPr/>
        </p:nvSpPr>
        <p:spPr>
          <a:xfrm>
            <a:off x="7865269" y="1290647"/>
            <a:ext cx="71438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500" dirty="0"/>
          </a:p>
        </p:txBody>
      </p:sp>
      <p:sp>
        <p:nvSpPr>
          <p:cNvPr id="84" name="Shape 81"/>
          <p:cNvSpPr/>
          <p:nvPr/>
        </p:nvSpPr>
        <p:spPr>
          <a:xfrm>
            <a:off x="7965281" y="1191890"/>
            <a:ext cx="778669" cy="281453"/>
          </a:xfrm>
          <a:prstGeom prst="rect">
            <a:avLst/>
          </a:prstGeom>
          <a:solidFill>
            <a:srgbClr val="F0FFF0"/>
          </a:solidFill>
          <a:ln w="9144">
            <a:solidFill>
              <a:srgbClr val="AADDAA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8210848" y="1243682"/>
            <a:ext cx="298252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1A6B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Approved</a:t>
            </a:r>
            <a:endParaRPr lang="en-US" sz="450" dirty="0"/>
          </a:p>
        </p:txBody>
      </p:sp>
      <p:sp>
        <p:nvSpPr>
          <p:cNvPr id="86" name="Text 83"/>
          <p:cNvSpPr/>
          <p:nvPr/>
        </p:nvSpPr>
        <p:spPr>
          <a:xfrm>
            <a:off x="8200132" y="1327259"/>
            <a:ext cx="319683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1A6B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 &lt;3 days</a:t>
            </a:r>
            <a:endParaRPr lang="en-US" sz="450" dirty="0"/>
          </a:p>
        </p:txBody>
      </p:sp>
      <p:sp>
        <p:nvSpPr>
          <p:cNvPr id="87" name="Text 84"/>
          <p:cNvSpPr/>
          <p:nvPr/>
        </p:nvSpPr>
        <p:spPr>
          <a:xfrm>
            <a:off x="8674298" y="1206178"/>
            <a:ext cx="48220" cy="7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00" dirty="0">
                <a:solidFill>
                  <a:srgbClr val="1A6B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✓</a:t>
            </a:r>
            <a:endParaRPr lang="en-US" sz="400" dirty="0"/>
          </a:p>
        </p:txBody>
      </p:sp>
      <p:sp>
        <p:nvSpPr>
          <p:cNvPr id="88" name="Text 85"/>
          <p:cNvSpPr/>
          <p:nvPr/>
        </p:nvSpPr>
        <p:spPr>
          <a:xfrm>
            <a:off x="4734520" y="1905484"/>
            <a:ext cx="410766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00" b="1" dirty="0">
                <a:solidFill>
                  <a:srgbClr val="5555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Intelligence</a:t>
            </a:r>
            <a:r>
              <a:rPr lang="en-US" sz="500" b="1" dirty="0">
                <a:solidFill>
                  <a:srgbClr val="5555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
</a:t>
            </a:r>
            <a:r>
              <a:rPr lang="en-US" sz="500" b="1" dirty="0">
                <a:solidFill>
                  <a:srgbClr val="5555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Engine</a:t>
            </a:r>
            <a:endParaRPr lang="en-US" sz="500" dirty="0"/>
          </a:p>
        </p:txBody>
      </p:sp>
      <p:sp>
        <p:nvSpPr>
          <p:cNvPr id="89" name="Shape 86"/>
          <p:cNvSpPr/>
          <p:nvPr/>
        </p:nvSpPr>
        <p:spPr>
          <a:xfrm>
            <a:off x="5286375" y="1857626"/>
            <a:ext cx="767953" cy="281453"/>
          </a:xfrm>
          <a:prstGeom prst="rect">
            <a:avLst/>
          </a:prstGeom>
          <a:solidFill>
            <a:srgbClr val="F4ECFF"/>
          </a:solidFill>
          <a:ln w="9144">
            <a:solidFill>
              <a:srgbClr val="D9B3FF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5454253" y="1916562"/>
            <a:ext cx="421481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4A00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6 engines fire</a:t>
            </a:r>
            <a:endParaRPr lang="en-US" sz="450" dirty="0"/>
          </a:p>
        </p:txBody>
      </p:sp>
      <p:sp>
        <p:nvSpPr>
          <p:cNvPr id="91" name="Text 88"/>
          <p:cNvSpPr/>
          <p:nvPr/>
        </p:nvSpPr>
        <p:spPr>
          <a:xfrm>
            <a:off x="5457825" y="2000138"/>
            <a:ext cx="414338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4A00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during config</a:t>
            </a:r>
            <a:endParaRPr lang="en-US" sz="450" dirty="0"/>
          </a:p>
        </p:txBody>
      </p:sp>
      <p:sp>
        <p:nvSpPr>
          <p:cNvPr id="92" name="Text 89"/>
          <p:cNvSpPr/>
          <p:nvPr/>
        </p:nvSpPr>
        <p:spPr>
          <a:xfrm>
            <a:off x="5973961" y="1879057"/>
            <a:ext cx="48220" cy="7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00" dirty="0">
                <a:solidFill>
                  <a:srgbClr val="1A6B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✓</a:t>
            </a:r>
            <a:endParaRPr lang="en-US" sz="400" dirty="0"/>
          </a:p>
        </p:txBody>
      </p:sp>
      <p:sp>
        <p:nvSpPr>
          <p:cNvPr id="93" name="Text 90"/>
          <p:cNvSpPr/>
          <p:nvPr/>
        </p:nvSpPr>
        <p:spPr>
          <a:xfrm>
            <a:off x="6072188" y="1956383"/>
            <a:ext cx="71438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500" dirty="0"/>
          </a:p>
        </p:txBody>
      </p:sp>
      <p:sp>
        <p:nvSpPr>
          <p:cNvPr id="94" name="Shape 91"/>
          <p:cNvSpPr/>
          <p:nvPr/>
        </p:nvSpPr>
        <p:spPr>
          <a:xfrm>
            <a:off x="6172200" y="1857626"/>
            <a:ext cx="771525" cy="281453"/>
          </a:xfrm>
          <a:prstGeom prst="rect">
            <a:avLst/>
          </a:prstGeom>
          <a:solidFill>
            <a:srgbClr val="F4ECFF"/>
          </a:solidFill>
          <a:ln w="9144">
            <a:solidFill>
              <a:srgbClr val="D9B3FF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6321326" y="1916562"/>
            <a:ext cx="469702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4A00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Plain-language</a:t>
            </a:r>
            <a:endParaRPr lang="en-US" sz="450" dirty="0"/>
          </a:p>
        </p:txBody>
      </p:sp>
      <p:sp>
        <p:nvSpPr>
          <p:cNvPr id="96" name="Text 93"/>
          <p:cNvSpPr/>
          <p:nvPr/>
        </p:nvSpPr>
        <p:spPr>
          <a:xfrm>
            <a:off x="6366867" y="2000138"/>
            <a:ext cx="378619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4A00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flags + fixes</a:t>
            </a:r>
            <a:endParaRPr lang="en-US" sz="450" dirty="0"/>
          </a:p>
        </p:txBody>
      </p:sp>
      <p:sp>
        <p:nvSpPr>
          <p:cNvPr id="97" name="Text 94"/>
          <p:cNvSpPr/>
          <p:nvPr/>
        </p:nvSpPr>
        <p:spPr>
          <a:xfrm>
            <a:off x="6866930" y="1879057"/>
            <a:ext cx="48220" cy="7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00" dirty="0">
                <a:solidFill>
                  <a:srgbClr val="1A6B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✓</a:t>
            </a:r>
            <a:endParaRPr lang="en-US" sz="400" dirty="0"/>
          </a:p>
        </p:txBody>
      </p:sp>
      <p:sp>
        <p:nvSpPr>
          <p:cNvPr id="98" name="Text 95"/>
          <p:cNvSpPr/>
          <p:nvPr/>
        </p:nvSpPr>
        <p:spPr>
          <a:xfrm>
            <a:off x="6965156" y="1956383"/>
            <a:ext cx="71438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500" dirty="0"/>
          </a:p>
        </p:txBody>
      </p:sp>
      <p:sp>
        <p:nvSpPr>
          <p:cNvPr id="99" name="Shape 96"/>
          <p:cNvSpPr/>
          <p:nvPr/>
        </p:nvSpPr>
        <p:spPr>
          <a:xfrm>
            <a:off x="7065169" y="1857626"/>
            <a:ext cx="775097" cy="281453"/>
          </a:xfrm>
          <a:prstGeom prst="rect">
            <a:avLst/>
          </a:prstGeom>
          <a:solidFill>
            <a:srgbClr val="F4ECFF"/>
          </a:solidFill>
          <a:ln w="9144">
            <a:solidFill>
              <a:srgbClr val="D9B3FF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7283053" y="1916562"/>
            <a:ext cx="342900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4A00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ML score +</a:t>
            </a:r>
            <a:endParaRPr lang="en-US" sz="450" dirty="0"/>
          </a:p>
        </p:txBody>
      </p:sp>
      <p:sp>
        <p:nvSpPr>
          <p:cNvPr id="101" name="Text 98"/>
          <p:cNvSpPr/>
          <p:nvPr/>
        </p:nvSpPr>
        <p:spPr>
          <a:xfrm>
            <a:off x="7261622" y="2000138"/>
            <a:ext cx="385763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4A00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approval tier</a:t>
            </a:r>
            <a:endParaRPr lang="en-US" sz="450" dirty="0"/>
          </a:p>
        </p:txBody>
      </p:sp>
      <p:sp>
        <p:nvSpPr>
          <p:cNvPr id="102" name="Text 99"/>
          <p:cNvSpPr/>
          <p:nvPr/>
        </p:nvSpPr>
        <p:spPr>
          <a:xfrm>
            <a:off x="7767042" y="1879057"/>
            <a:ext cx="48220" cy="7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00" dirty="0">
                <a:solidFill>
                  <a:srgbClr val="1A6B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✓</a:t>
            </a:r>
            <a:endParaRPr lang="en-US" sz="400" dirty="0"/>
          </a:p>
        </p:txBody>
      </p:sp>
      <p:sp>
        <p:nvSpPr>
          <p:cNvPr id="103" name="Text 100"/>
          <p:cNvSpPr/>
          <p:nvPr/>
        </p:nvSpPr>
        <p:spPr>
          <a:xfrm>
            <a:off x="7865269" y="1956383"/>
            <a:ext cx="71438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500" dirty="0"/>
          </a:p>
        </p:txBody>
      </p:sp>
      <p:sp>
        <p:nvSpPr>
          <p:cNvPr id="104" name="Shape 101"/>
          <p:cNvSpPr/>
          <p:nvPr/>
        </p:nvSpPr>
        <p:spPr>
          <a:xfrm>
            <a:off x="7965281" y="1857626"/>
            <a:ext cx="778669" cy="281453"/>
          </a:xfrm>
          <a:prstGeom prst="rect">
            <a:avLst/>
          </a:prstGeom>
          <a:solidFill>
            <a:srgbClr val="F0FFF0"/>
          </a:solidFill>
          <a:ln w="9144">
            <a:solidFill>
              <a:srgbClr val="AADDAA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8145661" y="1916562"/>
            <a:ext cx="428625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1A6B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Auto-approve</a:t>
            </a:r>
            <a:endParaRPr lang="en-US" sz="450" dirty="0"/>
          </a:p>
        </p:txBody>
      </p:sp>
      <p:sp>
        <p:nvSpPr>
          <p:cNvPr id="106" name="Text 103"/>
          <p:cNvSpPr/>
          <p:nvPr/>
        </p:nvSpPr>
        <p:spPr>
          <a:xfrm>
            <a:off x="8164413" y="2000138"/>
            <a:ext cx="391120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1A6B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or fast-route</a:t>
            </a:r>
            <a:endParaRPr lang="en-US" sz="450" dirty="0"/>
          </a:p>
        </p:txBody>
      </p:sp>
      <p:sp>
        <p:nvSpPr>
          <p:cNvPr id="107" name="Text 104"/>
          <p:cNvSpPr/>
          <p:nvPr/>
        </p:nvSpPr>
        <p:spPr>
          <a:xfrm>
            <a:off x="8674298" y="1879057"/>
            <a:ext cx="48220" cy="7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00" dirty="0">
                <a:solidFill>
                  <a:srgbClr val="1A6B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✓</a:t>
            </a:r>
            <a:endParaRPr lang="en-US" sz="400" dirty="0"/>
          </a:p>
        </p:txBody>
      </p:sp>
      <p:sp>
        <p:nvSpPr>
          <p:cNvPr id="108" name="Text 105"/>
          <p:cNvSpPr/>
          <p:nvPr/>
        </p:nvSpPr>
        <p:spPr>
          <a:xfrm>
            <a:off x="4744343" y="2894781"/>
            <a:ext cx="39112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00" b="1" dirty="0">
                <a:solidFill>
                  <a:srgbClr val="5555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Deal Desk /</a:t>
            </a:r>
            <a:r>
              <a:rPr lang="en-US" sz="500" b="1" dirty="0">
                <a:solidFill>
                  <a:srgbClr val="5555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
</a:t>
            </a:r>
            <a:r>
              <a:rPr lang="en-US" sz="500" b="1" dirty="0">
                <a:solidFill>
                  <a:srgbClr val="5555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Approver</a:t>
            </a:r>
            <a:endParaRPr lang="en-US" sz="500" dirty="0"/>
          </a:p>
        </p:txBody>
      </p:sp>
      <p:sp>
        <p:nvSpPr>
          <p:cNvPr id="109" name="Text 106"/>
          <p:cNvSpPr/>
          <p:nvPr/>
        </p:nvSpPr>
        <p:spPr>
          <a:xfrm>
            <a:off x="5286375" y="2888726"/>
            <a:ext cx="767953" cy="197876"/>
          </a:xfrm>
          <a:prstGeom prst="rect">
            <a:avLst/>
          </a:prstGeom>
          <a:noFill/>
          <a:ln/>
        </p:spPr>
        <p:txBody>
          <a:bodyPr wrap="square" lIns="68072" tIns="59563" rIns="68072" bIns="59563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CCCC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—</a:t>
            </a:r>
            <a:endParaRPr lang="en-US" sz="450" dirty="0"/>
          </a:p>
        </p:txBody>
      </p:sp>
      <p:sp>
        <p:nvSpPr>
          <p:cNvPr id="110" name="Text 107"/>
          <p:cNvSpPr/>
          <p:nvPr/>
        </p:nvSpPr>
        <p:spPr>
          <a:xfrm>
            <a:off x="6082903" y="2945681"/>
            <a:ext cx="71438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500" dirty="0"/>
          </a:p>
        </p:txBody>
      </p:sp>
      <p:sp>
        <p:nvSpPr>
          <p:cNvPr id="111" name="Text 108"/>
          <p:cNvSpPr/>
          <p:nvPr/>
        </p:nvSpPr>
        <p:spPr>
          <a:xfrm>
            <a:off x="6182916" y="2888726"/>
            <a:ext cx="767953" cy="197876"/>
          </a:xfrm>
          <a:prstGeom prst="rect">
            <a:avLst/>
          </a:prstGeom>
          <a:noFill/>
          <a:ln/>
        </p:spPr>
        <p:txBody>
          <a:bodyPr wrap="square" lIns="68072" tIns="59563" rIns="68072" bIns="59563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CCCC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—</a:t>
            </a:r>
            <a:endParaRPr lang="en-US" sz="450" dirty="0"/>
          </a:p>
        </p:txBody>
      </p:sp>
      <p:sp>
        <p:nvSpPr>
          <p:cNvPr id="112" name="Text 109"/>
          <p:cNvSpPr/>
          <p:nvPr/>
        </p:nvSpPr>
        <p:spPr>
          <a:xfrm>
            <a:off x="6979444" y="2945681"/>
            <a:ext cx="71438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500" dirty="0"/>
          </a:p>
        </p:txBody>
      </p:sp>
      <p:sp>
        <p:nvSpPr>
          <p:cNvPr id="113" name="Text 110"/>
          <p:cNvSpPr/>
          <p:nvPr/>
        </p:nvSpPr>
        <p:spPr>
          <a:xfrm>
            <a:off x="7079456" y="2888726"/>
            <a:ext cx="767953" cy="197876"/>
          </a:xfrm>
          <a:prstGeom prst="rect">
            <a:avLst/>
          </a:prstGeom>
          <a:noFill/>
          <a:ln/>
        </p:spPr>
        <p:txBody>
          <a:bodyPr wrap="square" lIns="68072" tIns="59563" rIns="68072" bIns="59563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CCCC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—</a:t>
            </a:r>
            <a:endParaRPr lang="en-US" sz="450" dirty="0"/>
          </a:p>
        </p:txBody>
      </p:sp>
      <p:sp>
        <p:nvSpPr>
          <p:cNvPr id="114" name="Text 111"/>
          <p:cNvSpPr/>
          <p:nvPr/>
        </p:nvSpPr>
        <p:spPr>
          <a:xfrm>
            <a:off x="7875984" y="2945681"/>
            <a:ext cx="71438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500" dirty="0"/>
          </a:p>
        </p:txBody>
      </p:sp>
      <p:sp>
        <p:nvSpPr>
          <p:cNvPr id="115" name="Shape 112"/>
          <p:cNvSpPr/>
          <p:nvPr/>
        </p:nvSpPr>
        <p:spPr>
          <a:xfrm>
            <a:off x="7975997" y="2846924"/>
            <a:ext cx="767953" cy="281453"/>
          </a:xfrm>
          <a:prstGeom prst="rect">
            <a:avLst/>
          </a:prstGeom>
          <a:solidFill>
            <a:srgbClr val="F0FFF0"/>
          </a:solidFill>
          <a:ln w="9144">
            <a:solidFill>
              <a:srgbClr val="AADDAA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8155484" y="2905860"/>
            <a:ext cx="419695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1A6B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Only complex</a:t>
            </a:r>
            <a:endParaRPr lang="en-US" sz="450" dirty="0"/>
          </a:p>
        </p:txBody>
      </p:sp>
      <p:sp>
        <p:nvSpPr>
          <p:cNvPr id="117" name="Text 114"/>
          <p:cNvSpPr/>
          <p:nvPr/>
        </p:nvSpPr>
        <p:spPr>
          <a:xfrm>
            <a:off x="8135838" y="2989436"/>
            <a:ext cx="458986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1A6B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deals reviewed</a:t>
            </a:r>
            <a:endParaRPr lang="en-US" sz="450" dirty="0"/>
          </a:p>
        </p:txBody>
      </p:sp>
      <p:sp>
        <p:nvSpPr>
          <p:cNvPr id="118" name="Text 115"/>
          <p:cNvSpPr/>
          <p:nvPr/>
        </p:nvSpPr>
        <p:spPr>
          <a:xfrm>
            <a:off x="8674298" y="2868355"/>
            <a:ext cx="48220" cy="7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00" dirty="0">
                <a:solidFill>
                  <a:srgbClr val="1A6B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✓</a:t>
            </a:r>
            <a:endParaRPr lang="en-US" sz="400" dirty="0"/>
          </a:p>
        </p:txBody>
      </p:sp>
      <p:sp>
        <p:nvSpPr>
          <p:cNvPr id="119" name="Shape 116"/>
          <p:cNvSpPr/>
          <p:nvPr/>
        </p:nvSpPr>
        <p:spPr>
          <a:xfrm>
            <a:off x="342900" y="4637745"/>
            <a:ext cx="4143375" cy="36288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0" name="Shape 117"/>
          <p:cNvSpPr/>
          <p:nvPr/>
        </p:nvSpPr>
        <p:spPr>
          <a:xfrm>
            <a:off x="342900" y="4637745"/>
            <a:ext cx="21431" cy="362880"/>
          </a:xfrm>
          <a:prstGeom prst="rect">
            <a:avLst/>
          </a:prstGeom>
          <a:solidFill>
            <a:srgbClr val="CC2222"/>
          </a:solidFill>
          <a:ln/>
        </p:spPr>
      </p:sp>
      <p:sp>
        <p:nvSpPr>
          <p:cNvPr id="121" name="Text 118"/>
          <p:cNvSpPr/>
          <p:nvPr/>
        </p:nvSpPr>
        <p:spPr>
          <a:xfrm>
            <a:off x="442913" y="4764184"/>
            <a:ext cx="394156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50" dirty="0">
                <a:solidFill>
                  <a:srgbClr val="CC222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Today: Zero intelligence during configuration — all pain is post-submission, costing €25M ARR annually</a:t>
            </a:r>
            <a:endParaRPr lang="en-US" sz="550" dirty="0"/>
          </a:p>
        </p:txBody>
      </p:sp>
      <p:sp>
        <p:nvSpPr>
          <p:cNvPr id="122" name="Shape 119"/>
          <p:cNvSpPr/>
          <p:nvPr/>
        </p:nvSpPr>
        <p:spPr>
          <a:xfrm>
            <a:off x="4657725" y="4637745"/>
            <a:ext cx="4143375" cy="362880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123" name="Shape 120"/>
          <p:cNvSpPr/>
          <p:nvPr/>
        </p:nvSpPr>
        <p:spPr>
          <a:xfrm>
            <a:off x="4657725" y="4637745"/>
            <a:ext cx="21431" cy="362880"/>
          </a:xfrm>
          <a:prstGeom prst="rect">
            <a:avLst/>
          </a:prstGeom>
          <a:solidFill>
            <a:srgbClr val="1A6B1A"/>
          </a:solidFill>
          <a:ln/>
        </p:spPr>
      </p:sp>
      <p:sp>
        <p:nvSpPr>
          <p:cNvPr id="124" name="Text 121"/>
          <p:cNvSpPr/>
          <p:nvPr/>
        </p:nvSpPr>
        <p:spPr>
          <a:xfrm>
            <a:off x="4757738" y="4709182"/>
            <a:ext cx="3943350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50" dirty="0">
                <a:solidFill>
                  <a:srgbClr val="1A6B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Future: All validation embedded at configuration time — 88%+ first-time approval, ServiceNow eliminated</a:t>
            </a:r>
            <a:endParaRPr lang="en-US" sz="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571750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564606" y="0"/>
            <a:ext cx="7144" cy="5143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2"/>
          <p:cNvSpPr/>
          <p:nvPr/>
        </p:nvSpPr>
        <p:spPr>
          <a:xfrm>
            <a:off x="342900" y="830321"/>
            <a:ext cx="2000250" cy="94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spc="2" kern="0" dirty="0">
                <a:solidFill>
                  <a:srgbClr val="A100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SOLUTION ARCHITECTURE</a:t>
            </a:r>
            <a:endParaRPr lang="en-US" sz="500" dirty="0"/>
          </a:p>
        </p:txBody>
      </p:sp>
      <p:sp>
        <p:nvSpPr>
          <p:cNvPr id="6" name="Text 3"/>
          <p:cNvSpPr/>
          <p:nvPr/>
        </p:nvSpPr>
        <p:spPr>
          <a:xfrm>
            <a:off x="342900" y="1024989"/>
            <a:ext cx="2000250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1A1A1D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How It Works — System Overview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2900" y="1585047"/>
            <a:ext cx="2000250" cy="63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6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intelligent layer embedded within the existing D365 CPQ workflow. No rip-and-replace — the solution extends what's already in place.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342900" y="2387938"/>
            <a:ext cx="171450" cy="171450"/>
          </a:xfrm>
          <a:prstGeom prst="rect">
            <a:avLst/>
          </a:prstGeom>
          <a:solidFill>
            <a:srgbClr val="F4ECFF"/>
          </a:solidFill>
          <a:ln/>
        </p:spPr>
      </p:sp>
      <p:sp>
        <p:nvSpPr>
          <p:cNvPr id="9" name="Text 6"/>
          <p:cNvSpPr/>
          <p:nvPr/>
        </p:nvSpPr>
        <p:spPr>
          <a:xfrm>
            <a:off x="342900" y="238793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585788" y="2387938"/>
            <a:ext cx="175736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4A00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67% faster</a:t>
            </a:r>
            <a:r>
              <a:rPr lang="en-US" sz="60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deal cycle — from 9.2 days to </a:t>
            </a:r>
            <a:r>
              <a:rPr lang="en-US" sz="60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under 3</a:t>
            </a:r>
            <a:endParaRPr lang="en-US" sz="600" dirty="0"/>
          </a:p>
        </p:txBody>
      </p:sp>
      <p:sp>
        <p:nvSpPr>
          <p:cNvPr id="11" name="Shape 8"/>
          <p:cNvSpPr/>
          <p:nvPr/>
        </p:nvSpPr>
        <p:spPr>
          <a:xfrm>
            <a:off x="342900" y="2730838"/>
            <a:ext cx="171450" cy="171450"/>
          </a:xfrm>
          <a:prstGeom prst="rect">
            <a:avLst/>
          </a:prstGeom>
          <a:solidFill>
            <a:srgbClr val="F4ECFF"/>
          </a:solidFill>
          <a:ln/>
        </p:spPr>
      </p:sp>
      <p:sp>
        <p:nvSpPr>
          <p:cNvPr id="12" name="Text 9"/>
          <p:cNvSpPr/>
          <p:nvPr/>
        </p:nvSpPr>
        <p:spPr>
          <a:xfrm>
            <a:off x="342900" y="273083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550" dirty="0"/>
          </a:p>
        </p:txBody>
      </p:sp>
      <p:sp>
        <p:nvSpPr>
          <p:cNvPr id="13" name="Text 10"/>
          <p:cNvSpPr/>
          <p:nvPr/>
        </p:nvSpPr>
        <p:spPr>
          <a:xfrm>
            <a:off x="585788" y="2730838"/>
            <a:ext cx="175736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4A00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Eliminates ServiceNow</a:t>
            </a:r>
            <a:r>
              <a:rPr lang="en-US" sz="60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dependency for </a:t>
            </a:r>
            <a:r>
              <a:rPr lang="en-US" sz="60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SKU resolution</a:t>
            </a:r>
            <a:endParaRPr lang="en-US" sz="600" dirty="0"/>
          </a:p>
        </p:txBody>
      </p:sp>
      <p:sp>
        <p:nvSpPr>
          <p:cNvPr id="14" name="Shape 11"/>
          <p:cNvSpPr/>
          <p:nvPr/>
        </p:nvSpPr>
        <p:spPr>
          <a:xfrm>
            <a:off x="342900" y="3073738"/>
            <a:ext cx="171450" cy="171450"/>
          </a:xfrm>
          <a:prstGeom prst="rect">
            <a:avLst/>
          </a:prstGeom>
          <a:solidFill>
            <a:srgbClr val="F4ECFF"/>
          </a:solidFill>
          <a:ln/>
        </p:spPr>
      </p:sp>
      <p:sp>
        <p:nvSpPr>
          <p:cNvPr id="15" name="Text 12"/>
          <p:cNvSpPr/>
          <p:nvPr/>
        </p:nvSpPr>
        <p:spPr>
          <a:xfrm>
            <a:off x="342900" y="307373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550" dirty="0"/>
          </a:p>
        </p:txBody>
      </p:sp>
      <p:sp>
        <p:nvSpPr>
          <p:cNvPr id="16" name="Text 13"/>
          <p:cNvSpPr/>
          <p:nvPr/>
        </p:nvSpPr>
        <p:spPr>
          <a:xfrm>
            <a:off x="585788" y="3073738"/>
            <a:ext cx="175736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4A00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Preserves D365 investment</a:t>
            </a:r>
            <a:r>
              <a:rPr lang="en-US" sz="60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extends, </a:t>
            </a:r>
            <a:r>
              <a:rPr lang="en-US" sz="60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does not replace</a:t>
            </a:r>
            <a:endParaRPr lang="en-US" sz="600" dirty="0"/>
          </a:p>
        </p:txBody>
      </p:sp>
      <p:sp>
        <p:nvSpPr>
          <p:cNvPr id="17" name="Shape 14"/>
          <p:cNvSpPr/>
          <p:nvPr/>
        </p:nvSpPr>
        <p:spPr>
          <a:xfrm>
            <a:off x="342900" y="3416638"/>
            <a:ext cx="171450" cy="171450"/>
          </a:xfrm>
          <a:prstGeom prst="rect">
            <a:avLst/>
          </a:prstGeom>
          <a:solidFill>
            <a:srgbClr val="F4ECFF"/>
          </a:solidFill>
          <a:ln/>
        </p:spPr>
      </p:sp>
      <p:sp>
        <p:nvSpPr>
          <p:cNvPr id="18" name="Text 15"/>
          <p:cNvSpPr/>
          <p:nvPr/>
        </p:nvSpPr>
        <p:spPr>
          <a:xfrm>
            <a:off x="342900" y="341663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550" dirty="0"/>
          </a:p>
        </p:txBody>
      </p:sp>
      <p:sp>
        <p:nvSpPr>
          <p:cNvPr id="19" name="Text 16"/>
          <p:cNvSpPr/>
          <p:nvPr/>
        </p:nvSpPr>
        <p:spPr>
          <a:xfrm>
            <a:off x="585788" y="3416638"/>
            <a:ext cx="175736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4A00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Full audit trail</a:t>
            </a:r>
            <a:r>
              <a:rPr lang="en-US" sz="60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for DoA compliance and </a:t>
            </a:r>
            <a:r>
              <a:rPr lang="en-US" sz="60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revenue recognition</a:t>
            </a:r>
            <a:endParaRPr lang="en-US" sz="600" dirty="0"/>
          </a:p>
        </p:txBody>
      </p:sp>
      <p:sp>
        <p:nvSpPr>
          <p:cNvPr id="20" name="Shape 17"/>
          <p:cNvSpPr/>
          <p:nvPr/>
        </p:nvSpPr>
        <p:spPr>
          <a:xfrm>
            <a:off x="342900" y="3845263"/>
            <a:ext cx="2000250" cy="553641"/>
          </a:xfrm>
          <a:prstGeom prst="rect">
            <a:avLst/>
          </a:prstGeom>
          <a:solidFill>
            <a:srgbClr val="2D004D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3945275"/>
            <a:ext cx="1771650" cy="353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" dirty="0">
                <a:solidFill>
                  <a:srgbClr val="D9B3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Key Principle:</a:t>
            </a:r>
            <a:r>
              <a:rPr lang="en-US" sz="550" dirty="0">
                <a:solidFill>
                  <a:srgbClr val="D9B3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D365 CPQ remains the System </a:t>
            </a:r>
            <a:r>
              <a:rPr lang="en-US" sz="550" dirty="0">
                <a:solidFill>
                  <a:srgbClr val="D9B3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of Record. All intelligence is additive — zero </a:t>
            </a:r>
            <a:r>
              <a:rPr lang="en-US" sz="550" dirty="0">
                <a:solidFill>
                  <a:srgbClr val="D9B3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disruption to existing workflows.</a:t>
            </a:r>
            <a:endParaRPr lang="en-US" sz="550" dirty="0"/>
          </a:p>
        </p:txBody>
      </p:sp>
      <p:sp>
        <p:nvSpPr>
          <p:cNvPr id="22" name="Text 19"/>
          <p:cNvSpPr/>
          <p:nvPr/>
        </p:nvSpPr>
        <p:spPr>
          <a:xfrm>
            <a:off x="3107531" y="1207126"/>
            <a:ext cx="3500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450" spc="1" kern="0" dirty="0">
                <a:solidFill>
                  <a:srgbClr val="999999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WHO</a:t>
            </a:r>
            <a:r>
              <a:rPr lang="en-US" sz="450" spc="1" kern="0" dirty="0">
                <a:solidFill>
                  <a:srgbClr val="999999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
</a:t>
            </a:r>
            <a:r>
              <a:rPr lang="en-US" sz="450" spc="1" kern="0" dirty="0">
                <a:solidFill>
                  <a:srgbClr val="999999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USES IT</a:t>
            </a:r>
            <a:endParaRPr lang="en-US" sz="450" dirty="0"/>
          </a:p>
        </p:txBody>
      </p:sp>
      <p:sp>
        <p:nvSpPr>
          <p:cNvPr id="23" name="Shape 20"/>
          <p:cNvSpPr/>
          <p:nvPr/>
        </p:nvSpPr>
        <p:spPr>
          <a:xfrm>
            <a:off x="3571875" y="1051415"/>
            <a:ext cx="2607469" cy="482901"/>
          </a:xfrm>
          <a:prstGeom prst="rect">
            <a:avLst/>
          </a:prstGeom>
          <a:solidFill>
            <a:srgbClr val="F8F8F8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455021" y="1172859"/>
            <a:ext cx="834033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Account Executives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4218384" y="1312859"/>
            <a:ext cx="130730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Quote configuration with live guidance</a:t>
            </a:r>
            <a:endParaRPr lang="en-US" sz="500" dirty="0"/>
          </a:p>
        </p:txBody>
      </p:sp>
      <p:sp>
        <p:nvSpPr>
          <p:cNvPr id="26" name="Shape 23"/>
          <p:cNvSpPr/>
          <p:nvPr/>
        </p:nvSpPr>
        <p:spPr>
          <a:xfrm>
            <a:off x="6243638" y="1051415"/>
            <a:ext cx="2614613" cy="482901"/>
          </a:xfrm>
          <a:prstGeom prst="rect">
            <a:avLst/>
          </a:prstGeom>
          <a:solidFill>
            <a:srgbClr val="F8F8F8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11616" y="1172859"/>
            <a:ext cx="685800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Portal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6991052" y="1312859"/>
            <a:ext cx="112692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Self-service proposal submission</a:t>
            </a:r>
            <a:endParaRPr lang="en-US" sz="500" dirty="0"/>
          </a:p>
        </p:txBody>
      </p:sp>
      <p:sp>
        <p:nvSpPr>
          <p:cNvPr id="29" name="Text 26"/>
          <p:cNvSpPr/>
          <p:nvPr/>
        </p:nvSpPr>
        <p:spPr>
          <a:xfrm>
            <a:off x="5229923" y="1641472"/>
            <a:ext cx="1970252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50" dirty="0">
                <a:solidFill>
                  <a:srgbClr val="A10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▼ Real-time events fire during configuration ▼</a:t>
            </a:r>
            <a:endParaRPr lang="en-US" sz="450" dirty="0"/>
          </a:p>
        </p:txBody>
      </p:sp>
      <p:sp>
        <p:nvSpPr>
          <p:cNvPr id="30" name="Text 27"/>
          <p:cNvSpPr/>
          <p:nvPr/>
        </p:nvSpPr>
        <p:spPr>
          <a:xfrm>
            <a:off x="3157538" y="2073111"/>
            <a:ext cx="3000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450" spc="1" kern="0" dirty="0">
                <a:solidFill>
                  <a:srgbClr val="999999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WHAT'S</a:t>
            </a:r>
            <a:r>
              <a:rPr lang="en-US" sz="450" spc="1" kern="0" dirty="0">
                <a:solidFill>
                  <a:srgbClr val="999999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
</a:t>
            </a:r>
            <a:r>
              <a:rPr lang="en-US" sz="450" spc="1" kern="0" dirty="0">
                <a:solidFill>
                  <a:srgbClr val="999999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NEW</a:t>
            </a:r>
            <a:endParaRPr lang="en-US" sz="450" dirty="0"/>
          </a:p>
        </p:txBody>
      </p:sp>
      <p:sp>
        <p:nvSpPr>
          <p:cNvPr id="31" name="Shape 28"/>
          <p:cNvSpPr/>
          <p:nvPr/>
        </p:nvSpPr>
        <p:spPr>
          <a:xfrm>
            <a:off x="3571875" y="1843283"/>
            <a:ext cx="5286375" cy="631134"/>
          </a:xfrm>
          <a:prstGeom prst="rect">
            <a:avLst/>
          </a:prstGeom>
          <a:solidFill>
            <a:srgbClr val="2D004D"/>
          </a:solidFill>
          <a:ln/>
        </p:spPr>
      </p:sp>
      <p:sp>
        <p:nvSpPr>
          <p:cNvPr id="32" name="Text 29"/>
          <p:cNvSpPr/>
          <p:nvPr/>
        </p:nvSpPr>
        <p:spPr>
          <a:xfrm>
            <a:off x="5282803" y="1957583"/>
            <a:ext cx="186451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Embedded Configuration Intelligence Engine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4998839" y="2097584"/>
            <a:ext cx="243244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D9B3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validation engines — all fire during configuration, not after submission</a:t>
            </a:r>
            <a:endParaRPr lang="en-US" sz="500" dirty="0"/>
          </a:p>
        </p:txBody>
      </p:sp>
      <p:sp>
        <p:nvSpPr>
          <p:cNvPr id="34" name="Shape 31"/>
          <p:cNvSpPr/>
          <p:nvPr/>
        </p:nvSpPr>
        <p:spPr>
          <a:xfrm>
            <a:off x="4749701" y="2254746"/>
            <a:ext cx="323255" cy="105370"/>
          </a:xfrm>
          <a:prstGeom prst="rect">
            <a:avLst/>
          </a:prstGeom>
          <a:solidFill>
            <a:srgbClr val="A100FF">
              <a:alpha val="20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4749701" y="2254746"/>
            <a:ext cx="323255" cy="105370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ctr" indent="0" marL="0">
              <a:buNone/>
            </a:pPr>
            <a:r>
              <a:rPr lang="en-US" sz="400" dirty="0">
                <a:solidFill>
                  <a:srgbClr val="D9B3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PRICING</a:t>
            </a:r>
            <a:endParaRPr lang="en-US" sz="400" dirty="0"/>
          </a:p>
        </p:txBody>
      </p:sp>
      <p:sp>
        <p:nvSpPr>
          <p:cNvPr id="36" name="Shape 33"/>
          <p:cNvSpPr/>
          <p:nvPr/>
        </p:nvSpPr>
        <p:spPr>
          <a:xfrm>
            <a:off x="5101530" y="2254746"/>
            <a:ext cx="323255" cy="105370"/>
          </a:xfrm>
          <a:prstGeom prst="rect">
            <a:avLst/>
          </a:prstGeom>
          <a:solidFill>
            <a:srgbClr val="A100FF">
              <a:alpha val="20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5101530" y="2254746"/>
            <a:ext cx="323255" cy="105370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ctr" indent="0" marL="0">
              <a:buNone/>
            </a:pPr>
            <a:r>
              <a:rPr lang="en-US" sz="400" dirty="0">
                <a:solidFill>
                  <a:srgbClr val="D9B3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PHASING</a:t>
            </a:r>
            <a:endParaRPr lang="en-US" sz="400" dirty="0"/>
          </a:p>
        </p:txBody>
      </p:sp>
      <p:sp>
        <p:nvSpPr>
          <p:cNvPr id="38" name="Shape 35"/>
          <p:cNvSpPr/>
          <p:nvPr/>
        </p:nvSpPr>
        <p:spPr>
          <a:xfrm>
            <a:off x="5453360" y="2254746"/>
            <a:ext cx="458986" cy="105370"/>
          </a:xfrm>
          <a:prstGeom prst="rect">
            <a:avLst/>
          </a:prstGeom>
          <a:solidFill>
            <a:srgbClr val="A100FF">
              <a:alpha val="20000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5453360" y="2254746"/>
            <a:ext cx="458986" cy="105370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ctr" indent="0" marL="0">
              <a:buNone/>
            </a:pPr>
            <a:r>
              <a:rPr lang="en-US" sz="400" dirty="0">
                <a:solidFill>
                  <a:srgbClr val="D9B3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DEAL HEALTH</a:t>
            </a:r>
            <a:endParaRPr lang="en-US" sz="400" dirty="0"/>
          </a:p>
        </p:txBody>
      </p:sp>
      <p:sp>
        <p:nvSpPr>
          <p:cNvPr id="40" name="Shape 37"/>
          <p:cNvSpPr/>
          <p:nvPr/>
        </p:nvSpPr>
        <p:spPr>
          <a:xfrm>
            <a:off x="5940921" y="2254746"/>
            <a:ext cx="425053" cy="105370"/>
          </a:xfrm>
          <a:prstGeom prst="rect">
            <a:avLst/>
          </a:prstGeom>
          <a:solidFill>
            <a:srgbClr val="A100FF">
              <a:alpha val="20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5940921" y="2254746"/>
            <a:ext cx="425053" cy="105370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ctr" indent="0" marL="0">
              <a:buNone/>
            </a:pPr>
            <a:r>
              <a:rPr lang="en-US" sz="400" dirty="0">
                <a:solidFill>
                  <a:srgbClr val="D9B3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ML SCORING</a:t>
            </a:r>
            <a:endParaRPr lang="en-US" sz="400" dirty="0"/>
          </a:p>
        </p:txBody>
      </p:sp>
      <p:sp>
        <p:nvSpPr>
          <p:cNvPr id="42" name="Shape 39"/>
          <p:cNvSpPr/>
          <p:nvPr/>
        </p:nvSpPr>
        <p:spPr>
          <a:xfrm>
            <a:off x="6394549" y="2254746"/>
            <a:ext cx="560784" cy="105370"/>
          </a:xfrm>
          <a:prstGeom prst="rect">
            <a:avLst/>
          </a:prstGeom>
          <a:solidFill>
            <a:srgbClr val="A100FF">
              <a:alpha val="20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6394549" y="2254746"/>
            <a:ext cx="560784" cy="105370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ctr" indent="0" marL="0">
              <a:buNone/>
            </a:pPr>
            <a:r>
              <a:rPr lang="en-US" sz="400" dirty="0">
                <a:solidFill>
                  <a:srgbClr val="D9B3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SKU RESOLUTION</a:t>
            </a:r>
            <a:endParaRPr lang="en-US" sz="400" dirty="0"/>
          </a:p>
        </p:txBody>
      </p:sp>
      <p:sp>
        <p:nvSpPr>
          <p:cNvPr id="44" name="Shape 41"/>
          <p:cNvSpPr/>
          <p:nvPr/>
        </p:nvSpPr>
        <p:spPr>
          <a:xfrm>
            <a:off x="6983909" y="2254746"/>
            <a:ext cx="696516" cy="105370"/>
          </a:xfrm>
          <a:prstGeom prst="rect">
            <a:avLst/>
          </a:prstGeom>
          <a:solidFill>
            <a:srgbClr val="A100FF">
              <a:alpha val="20000"/>
            </a:srgbClr>
          </a:solidFill>
          <a:ln/>
        </p:spPr>
      </p:sp>
      <p:sp>
        <p:nvSpPr>
          <p:cNvPr id="45" name="Text 42"/>
          <p:cNvSpPr/>
          <p:nvPr/>
        </p:nvSpPr>
        <p:spPr>
          <a:xfrm>
            <a:off x="6983909" y="2254746"/>
            <a:ext cx="696516" cy="105370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ctr" indent="0" marL="0">
              <a:buNone/>
            </a:pPr>
            <a:r>
              <a:rPr lang="en-US" sz="400" dirty="0">
                <a:solidFill>
                  <a:srgbClr val="D9B3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REVENUE COMPLIANCE</a:t>
            </a:r>
            <a:endParaRPr lang="en-US" sz="400" dirty="0"/>
          </a:p>
        </p:txBody>
      </p:sp>
      <p:sp>
        <p:nvSpPr>
          <p:cNvPr id="46" name="Text 43"/>
          <p:cNvSpPr/>
          <p:nvPr/>
        </p:nvSpPr>
        <p:spPr>
          <a:xfrm>
            <a:off x="5187060" y="2588716"/>
            <a:ext cx="2055977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50" dirty="0">
                <a:solidFill>
                  <a:srgbClr val="A10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▼ Reads from &amp; writes back to System of Record ▼</a:t>
            </a:r>
            <a:endParaRPr lang="en-US" sz="450" dirty="0"/>
          </a:p>
        </p:txBody>
      </p:sp>
      <p:sp>
        <p:nvSpPr>
          <p:cNvPr id="47" name="Text 44"/>
          <p:cNvSpPr/>
          <p:nvPr/>
        </p:nvSpPr>
        <p:spPr>
          <a:xfrm>
            <a:off x="3007519" y="2953383"/>
            <a:ext cx="4500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450" spc="1" kern="0" dirty="0">
                <a:solidFill>
                  <a:srgbClr val="999999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SYSTEM</a:t>
            </a:r>
            <a:r>
              <a:rPr lang="en-US" sz="450" spc="1" kern="0" dirty="0">
                <a:solidFill>
                  <a:srgbClr val="999999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
</a:t>
            </a:r>
            <a:r>
              <a:rPr lang="en-US" sz="450" spc="1" kern="0" dirty="0">
                <a:solidFill>
                  <a:srgbClr val="999999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OF RECORD</a:t>
            </a:r>
            <a:endParaRPr lang="en-US" sz="450" dirty="0"/>
          </a:p>
        </p:txBody>
      </p:sp>
      <p:sp>
        <p:nvSpPr>
          <p:cNvPr id="48" name="Shape 45"/>
          <p:cNvSpPr/>
          <p:nvPr/>
        </p:nvSpPr>
        <p:spPr>
          <a:xfrm>
            <a:off x="3571875" y="2790527"/>
            <a:ext cx="1714500" cy="497188"/>
          </a:xfrm>
          <a:prstGeom prst="rect">
            <a:avLst/>
          </a:prstGeom>
          <a:solidFill>
            <a:srgbClr val="FFFFFF"/>
          </a:solidFill>
          <a:ln w="18288">
            <a:solidFill>
              <a:srgbClr val="4A008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203483" y="2919115"/>
            <a:ext cx="432197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4A00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D365 CPQ</a:t>
            </a:r>
            <a:endParaRPr lang="en-US" sz="600" dirty="0"/>
          </a:p>
        </p:txBody>
      </p:sp>
      <p:sp>
        <p:nvSpPr>
          <p:cNvPr id="50" name="Text 47"/>
          <p:cNvSpPr/>
          <p:nvPr/>
        </p:nvSpPr>
        <p:spPr>
          <a:xfrm>
            <a:off x="3893623" y="3059116"/>
            <a:ext cx="105191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Configuration, Pricing, Quoting</a:t>
            </a:r>
            <a:endParaRPr lang="en-US" sz="500" dirty="0"/>
          </a:p>
        </p:txBody>
      </p:sp>
      <p:sp>
        <p:nvSpPr>
          <p:cNvPr id="51" name="Shape 48"/>
          <p:cNvSpPr/>
          <p:nvPr/>
        </p:nvSpPr>
        <p:spPr>
          <a:xfrm>
            <a:off x="5338753" y="2790527"/>
            <a:ext cx="1724016" cy="497188"/>
          </a:xfrm>
          <a:prstGeom prst="rect">
            <a:avLst/>
          </a:prstGeom>
          <a:solidFill>
            <a:srgbClr val="FFFFFF"/>
          </a:solidFill>
          <a:ln w="18288">
            <a:solidFill>
              <a:srgbClr val="4A008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976640" y="2919115"/>
            <a:ext cx="448270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4A00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D365 CRM</a:t>
            </a:r>
            <a:endParaRPr lang="en-US" sz="600" dirty="0"/>
          </a:p>
        </p:txBody>
      </p:sp>
      <p:sp>
        <p:nvSpPr>
          <p:cNvPr id="53" name="Text 50"/>
          <p:cNvSpPr/>
          <p:nvPr/>
        </p:nvSpPr>
        <p:spPr>
          <a:xfrm>
            <a:off x="5729288" y="3059116"/>
            <a:ext cx="94297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 &amp; Opportunity data</a:t>
            </a:r>
            <a:endParaRPr lang="en-US" sz="500" dirty="0"/>
          </a:p>
        </p:txBody>
      </p:sp>
      <p:sp>
        <p:nvSpPr>
          <p:cNvPr id="54" name="Shape 51"/>
          <p:cNvSpPr/>
          <p:nvPr/>
        </p:nvSpPr>
        <p:spPr>
          <a:xfrm>
            <a:off x="7124719" y="2790527"/>
            <a:ext cx="1733559" cy="497188"/>
          </a:xfrm>
          <a:prstGeom prst="rect">
            <a:avLst/>
          </a:prstGeom>
          <a:solidFill>
            <a:srgbClr val="FFFFFF"/>
          </a:solidFill>
          <a:ln w="18288">
            <a:solidFill>
              <a:srgbClr val="4A008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625953" y="2919115"/>
            <a:ext cx="750094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4A00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ML Model Service</a:t>
            </a:r>
            <a:endParaRPr lang="en-US" sz="600" dirty="0"/>
          </a:p>
        </p:txBody>
      </p:sp>
      <p:sp>
        <p:nvSpPr>
          <p:cNvPr id="56" name="Text 53"/>
          <p:cNvSpPr/>
          <p:nvPr/>
        </p:nvSpPr>
        <p:spPr>
          <a:xfrm>
            <a:off x="7524155" y="3059116"/>
            <a:ext cx="95369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probability scoring</a:t>
            </a:r>
            <a:endParaRPr lang="en-US" sz="500" dirty="0"/>
          </a:p>
        </p:txBody>
      </p:sp>
      <p:sp>
        <p:nvSpPr>
          <p:cNvPr id="57" name="Text 54"/>
          <p:cNvSpPr/>
          <p:nvPr/>
        </p:nvSpPr>
        <p:spPr>
          <a:xfrm>
            <a:off x="5664994" y="3387728"/>
            <a:ext cx="110013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50" dirty="0">
                <a:solidFill>
                  <a:srgbClr val="CC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✕ ELIMINATED DEPENDENCY ✕</a:t>
            </a:r>
            <a:endParaRPr lang="en-US" sz="450" dirty="0"/>
          </a:p>
        </p:txBody>
      </p:sp>
      <p:sp>
        <p:nvSpPr>
          <p:cNvPr id="58" name="Text 55"/>
          <p:cNvSpPr/>
          <p:nvPr/>
        </p:nvSpPr>
        <p:spPr>
          <a:xfrm>
            <a:off x="3107531" y="3786327"/>
            <a:ext cx="350044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450" spc="1" kern="0" dirty="0">
                <a:solidFill>
                  <a:srgbClr val="999999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REMOVED</a:t>
            </a:r>
            <a:endParaRPr lang="en-US" sz="450" dirty="0"/>
          </a:p>
        </p:txBody>
      </p:sp>
      <p:sp>
        <p:nvSpPr>
          <p:cNvPr id="59" name="Shape 56"/>
          <p:cNvSpPr/>
          <p:nvPr/>
        </p:nvSpPr>
        <p:spPr>
          <a:xfrm>
            <a:off x="3571875" y="3587753"/>
            <a:ext cx="2607469" cy="482901"/>
          </a:xfrm>
          <a:prstGeom prst="rect">
            <a:avLst/>
          </a:prstGeom>
          <a:solidFill>
            <a:srgbClr val="FFF5F5">
              <a:alpha val="70000"/>
            </a:srgbClr>
          </a:solidFill>
          <a:ln w="9144">
            <a:solidFill>
              <a:srgbClr val="CC0000">
                <a:alpha val="70000"/>
              </a:srgbClr>
            </a:solidFill>
            <a:prstDash val="dash"/>
          </a:ln>
        </p:spPr>
      </p:sp>
      <p:sp>
        <p:nvSpPr>
          <p:cNvPr id="60" name="Text 57"/>
          <p:cNvSpPr/>
          <p:nvPr/>
        </p:nvSpPr>
        <p:spPr>
          <a:xfrm>
            <a:off x="4319290" y="3709197"/>
            <a:ext cx="1105495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b="1" strike="sngStrike" dirty="0">
                <a:solidFill>
                  <a:srgbClr val="CC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ServiceNow (SKU Tickets)</a:t>
            </a:r>
            <a:endParaRPr lang="en-US" sz="600" dirty="0"/>
          </a:p>
        </p:txBody>
      </p:sp>
      <p:sp>
        <p:nvSpPr>
          <p:cNvPr id="61" name="Text 58"/>
          <p:cNvSpPr/>
          <p:nvPr/>
        </p:nvSpPr>
        <p:spPr>
          <a:xfrm>
            <a:off x="4355902" y="3849198"/>
            <a:ext cx="103227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CC00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ELIMINATED — resolved inline</a:t>
            </a:r>
            <a:endParaRPr lang="en-US" sz="500" dirty="0"/>
          </a:p>
        </p:txBody>
      </p:sp>
      <p:sp>
        <p:nvSpPr>
          <p:cNvPr id="62" name="Shape 59"/>
          <p:cNvSpPr/>
          <p:nvPr/>
        </p:nvSpPr>
        <p:spPr>
          <a:xfrm>
            <a:off x="6243638" y="3587753"/>
            <a:ext cx="2614613" cy="482901"/>
          </a:xfrm>
          <a:prstGeom prst="rect">
            <a:avLst/>
          </a:prstGeom>
          <a:solidFill>
            <a:srgbClr val="FFF5F5">
              <a:alpha val="70000"/>
            </a:srgbClr>
          </a:solidFill>
          <a:ln w="9144">
            <a:solidFill>
              <a:srgbClr val="CC0000">
                <a:alpha val="70000"/>
              </a:srgbClr>
            </a:solidFill>
            <a:prstDash val="dash"/>
          </a:ln>
        </p:spPr>
      </p:sp>
      <p:sp>
        <p:nvSpPr>
          <p:cNvPr id="63" name="Text 60"/>
          <p:cNvSpPr/>
          <p:nvPr/>
        </p:nvSpPr>
        <p:spPr>
          <a:xfrm>
            <a:off x="7043738" y="3709197"/>
            <a:ext cx="1021556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b="1" strike="sngStrike" dirty="0">
                <a:solidFill>
                  <a:srgbClr val="CC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Manual Escalation Paths</a:t>
            </a:r>
            <a:endParaRPr lang="en-US" sz="600" dirty="0"/>
          </a:p>
        </p:txBody>
      </p:sp>
      <p:sp>
        <p:nvSpPr>
          <p:cNvPr id="64" name="Text 61"/>
          <p:cNvSpPr/>
          <p:nvPr/>
        </p:nvSpPr>
        <p:spPr>
          <a:xfrm>
            <a:off x="6965156" y="3849198"/>
            <a:ext cx="117871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CC00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ELIMINATED — auto-routed by ML</a:t>
            </a:r>
            <a:endParaRPr lang="en-US" sz="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28600"/>
            <a:ext cx="3507581" cy="94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spc="2" kern="0" dirty="0">
                <a:solidFill>
                  <a:srgbClr val="A100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INTELLIGENCE ENGINE CAPABILITIES</a:t>
            </a:r>
            <a:endParaRPr lang="en-US" sz="500" dirty="0"/>
          </a:p>
        </p:txBody>
      </p:sp>
      <p:sp>
        <p:nvSpPr>
          <p:cNvPr id="4" name="Text 1"/>
          <p:cNvSpPr/>
          <p:nvPr/>
        </p:nvSpPr>
        <p:spPr>
          <a:xfrm>
            <a:off x="342900" y="366117"/>
            <a:ext cx="350758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1A1A1D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Six Engines — One Unified Decision Layer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42900" y="614697"/>
            <a:ext cx="3507581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engine addresses a specific root cause of deal rejection and delay</a:t>
            </a:r>
            <a:endParaRPr lang="en-US" sz="650" dirty="0"/>
          </a:p>
        </p:txBody>
      </p:sp>
      <p:sp>
        <p:nvSpPr>
          <p:cNvPr id="6" name="Shape 3"/>
          <p:cNvSpPr/>
          <p:nvPr/>
        </p:nvSpPr>
        <p:spPr>
          <a:xfrm>
            <a:off x="6150741" y="487896"/>
            <a:ext cx="2650359" cy="239316"/>
          </a:xfrm>
          <a:prstGeom prst="rect">
            <a:avLst/>
          </a:prstGeom>
          <a:solidFill>
            <a:srgbClr val="2D004D"/>
          </a:solidFill>
          <a:ln/>
        </p:spPr>
      </p:sp>
      <p:sp>
        <p:nvSpPr>
          <p:cNvPr id="7" name="Text 4"/>
          <p:cNvSpPr/>
          <p:nvPr/>
        </p:nvSpPr>
        <p:spPr>
          <a:xfrm>
            <a:off x="6279328" y="559333"/>
            <a:ext cx="2393184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All engines fire </a:t>
            </a:r>
            <a:r>
              <a:rPr lang="en-US" sz="550" dirty="0">
                <a:solidFill>
                  <a:srgbClr val="D9B3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during configuration</a:t>
            </a:r>
            <a:r>
              <a:rPr lang="en-US" sz="5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— not after submission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464344" y="1020105"/>
            <a:ext cx="171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000" b="1" dirty="0">
                <a:solidFill>
                  <a:srgbClr val="A100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07231" y="1031184"/>
            <a:ext cx="880467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1A1A1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Pricing Compliance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464344" y="1234418"/>
            <a:ext cx="2509828" cy="271463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Prevents deals from being priced below the Lower Eligibility Price floor — the #1 cause of immediate rejection today.</a:t>
            </a:r>
            <a:endParaRPr lang="en-US" sz="550" dirty="0"/>
          </a:p>
        </p:txBody>
      </p:sp>
      <p:sp>
        <p:nvSpPr>
          <p:cNvPr id="11" name="Shape 8"/>
          <p:cNvSpPr/>
          <p:nvPr/>
        </p:nvSpPr>
        <p:spPr>
          <a:xfrm>
            <a:off x="464344" y="2155459"/>
            <a:ext cx="2509828" cy="334305"/>
          </a:xfrm>
          <a:prstGeom prst="rect">
            <a:avLst/>
          </a:prstGeom>
          <a:solidFill>
            <a:srgbClr val="F4ECFF"/>
          </a:solidFill>
          <a:ln/>
        </p:spPr>
      </p:sp>
      <p:sp>
        <p:nvSpPr>
          <p:cNvPr id="12" name="Text 9"/>
          <p:cNvSpPr/>
          <p:nvPr/>
        </p:nvSpPr>
        <p:spPr>
          <a:xfrm>
            <a:off x="535781" y="2263676"/>
            <a:ext cx="12501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📉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17947" y="2212609"/>
            <a:ext cx="2184788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50" dirty="0">
                <a:solidFill>
                  <a:srgbClr val="4A00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Eliminates 38% of current rejections caused by LEP violations</a:t>
            </a:r>
            <a:endParaRPr lang="en-US" sz="550" dirty="0"/>
          </a:p>
        </p:txBody>
      </p:sp>
      <p:sp>
        <p:nvSpPr>
          <p:cNvPr id="14" name="Text 11"/>
          <p:cNvSpPr/>
          <p:nvPr/>
        </p:nvSpPr>
        <p:spPr>
          <a:xfrm>
            <a:off x="3317072" y="1020105"/>
            <a:ext cx="171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000" b="1" dirty="0">
                <a:solidFill>
                  <a:srgbClr val="A100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559959" y="1031184"/>
            <a:ext cx="776883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1A1A1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Phasing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3317072" y="1234418"/>
            <a:ext cx="2509828" cy="389334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Validates that Year-1 ACV meets minimum threshold for healthy cash flow — catches back-loaded ramps that trigger CFO escalation.</a:t>
            </a:r>
            <a:endParaRPr lang="en-US" sz="550" dirty="0"/>
          </a:p>
        </p:txBody>
      </p:sp>
      <p:sp>
        <p:nvSpPr>
          <p:cNvPr id="17" name="Shape 14"/>
          <p:cNvSpPr/>
          <p:nvPr/>
        </p:nvSpPr>
        <p:spPr>
          <a:xfrm>
            <a:off x="3317072" y="2155459"/>
            <a:ext cx="2509828" cy="334305"/>
          </a:xfrm>
          <a:prstGeom prst="rect">
            <a:avLst/>
          </a:prstGeom>
          <a:solidFill>
            <a:srgbClr val="F4ECFF"/>
          </a:solidFill>
          <a:ln/>
        </p:spPr>
      </p:sp>
      <p:sp>
        <p:nvSpPr>
          <p:cNvPr id="18" name="Text 15"/>
          <p:cNvSpPr/>
          <p:nvPr/>
        </p:nvSpPr>
        <p:spPr>
          <a:xfrm>
            <a:off x="3388509" y="2263676"/>
            <a:ext cx="12501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💰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570675" y="2212609"/>
            <a:ext cx="2184788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50" dirty="0">
                <a:solidFill>
                  <a:srgbClr val="4A00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Ensures healthy Year-1 cash flow — avoids CFO-level escalation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6169800" y="1020105"/>
            <a:ext cx="171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000" b="1" dirty="0">
                <a:solidFill>
                  <a:srgbClr val="A100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12688" y="1031184"/>
            <a:ext cx="794742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1A1A1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Deal Health Index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6169800" y="1234418"/>
            <a:ext cx="2509856" cy="271463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Surfaces all 12 known rejection risk factors in plain language — with specific fix guidance — while the AE is still configuring.</a:t>
            </a:r>
            <a:endParaRPr lang="en-US" sz="550" dirty="0"/>
          </a:p>
        </p:txBody>
      </p:sp>
      <p:sp>
        <p:nvSpPr>
          <p:cNvPr id="23" name="Shape 20"/>
          <p:cNvSpPr/>
          <p:nvPr/>
        </p:nvSpPr>
        <p:spPr>
          <a:xfrm>
            <a:off x="6169800" y="2155459"/>
            <a:ext cx="2509856" cy="334305"/>
          </a:xfrm>
          <a:prstGeom prst="rect">
            <a:avLst/>
          </a:prstGeom>
          <a:solidFill>
            <a:srgbClr val="F4ECFF"/>
          </a:solidFill>
          <a:ln/>
        </p:spPr>
      </p:sp>
      <p:sp>
        <p:nvSpPr>
          <p:cNvPr id="24" name="Text 21"/>
          <p:cNvSpPr/>
          <p:nvPr/>
        </p:nvSpPr>
        <p:spPr>
          <a:xfrm>
            <a:off x="6241238" y="2263676"/>
            <a:ext cx="12501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🔍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6423403" y="2212609"/>
            <a:ext cx="2184815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50" dirty="0">
                <a:solidFill>
                  <a:srgbClr val="4A00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Plain-language flags replace cryptic error codes — AEs fix inline</a:t>
            </a:r>
            <a:endParaRPr lang="en-US" sz="550" dirty="0"/>
          </a:p>
        </p:txBody>
      </p:sp>
      <p:sp>
        <p:nvSpPr>
          <p:cNvPr id="26" name="Text 23"/>
          <p:cNvSpPr/>
          <p:nvPr/>
        </p:nvSpPr>
        <p:spPr>
          <a:xfrm>
            <a:off x="464344" y="2875527"/>
            <a:ext cx="171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000" b="1" dirty="0">
                <a:solidFill>
                  <a:srgbClr val="A100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07231" y="2886605"/>
            <a:ext cx="1176933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1A1A1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Predictive Approval Score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464344" y="3089839"/>
            <a:ext cx="2509828" cy="389334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model trained on 18 months of outcomes shows real-time approval probability — AEs see exactly where they stand before submitting.</a:t>
            </a:r>
            <a:endParaRPr lang="en-US" sz="550" dirty="0"/>
          </a:p>
        </p:txBody>
      </p:sp>
      <p:sp>
        <p:nvSpPr>
          <p:cNvPr id="29" name="Shape 26"/>
          <p:cNvSpPr/>
          <p:nvPr/>
        </p:nvSpPr>
        <p:spPr>
          <a:xfrm>
            <a:off x="464344" y="4010881"/>
            <a:ext cx="2509828" cy="334305"/>
          </a:xfrm>
          <a:prstGeom prst="rect">
            <a:avLst/>
          </a:prstGeom>
          <a:solidFill>
            <a:srgbClr val="F4ECFF"/>
          </a:solidFill>
          <a:ln/>
        </p:spPr>
      </p:sp>
      <p:sp>
        <p:nvSpPr>
          <p:cNvPr id="30" name="Text 27"/>
          <p:cNvSpPr/>
          <p:nvPr/>
        </p:nvSpPr>
        <p:spPr>
          <a:xfrm>
            <a:off x="535781" y="4119097"/>
            <a:ext cx="12501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🧠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717947" y="4068031"/>
            <a:ext cx="2184788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50" dirty="0">
                <a:solidFill>
                  <a:srgbClr val="4A00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Enables auto-approval path for high-confidence deals (&lt;1 day)</a:t>
            </a:r>
            <a:endParaRPr lang="en-US" sz="550" dirty="0"/>
          </a:p>
        </p:txBody>
      </p:sp>
      <p:sp>
        <p:nvSpPr>
          <p:cNvPr id="32" name="Text 29"/>
          <p:cNvSpPr/>
          <p:nvPr/>
        </p:nvSpPr>
        <p:spPr>
          <a:xfrm>
            <a:off x="3317072" y="2875527"/>
            <a:ext cx="171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000" b="1" dirty="0">
                <a:solidFill>
                  <a:srgbClr val="A100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05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3559959" y="2886605"/>
            <a:ext cx="694730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1A1A1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SKU Resolution</a:t>
            </a:r>
            <a:endParaRPr lang="en-US" sz="650" dirty="0"/>
          </a:p>
        </p:txBody>
      </p:sp>
      <p:sp>
        <p:nvSpPr>
          <p:cNvPr id="34" name="Text 31"/>
          <p:cNvSpPr/>
          <p:nvPr/>
        </p:nvSpPr>
        <p:spPr>
          <a:xfrm>
            <a:off x="3317072" y="3089839"/>
            <a:ext cx="2509828" cy="389334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Resolves deprecated, unrecognized, or misconfigured SKUs with one click — eliminates the 2–5 day ServiceNow ticket dependency entirely.</a:t>
            </a:r>
            <a:endParaRPr lang="en-US" sz="550" dirty="0"/>
          </a:p>
        </p:txBody>
      </p:sp>
      <p:sp>
        <p:nvSpPr>
          <p:cNvPr id="35" name="Shape 32"/>
          <p:cNvSpPr/>
          <p:nvPr/>
        </p:nvSpPr>
        <p:spPr>
          <a:xfrm>
            <a:off x="3317072" y="4010881"/>
            <a:ext cx="2509828" cy="334305"/>
          </a:xfrm>
          <a:prstGeom prst="rect">
            <a:avLst/>
          </a:prstGeom>
          <a:solidFill>
            <a:srgbClr val="F4ECFF"/>
          </a:solidFill>
          <a:ln/>
        </p:spPr>
      </p:sp>
      <p:sp>
        <p:nvSpPr>
          <p:cNvPr id="36" name="Text 33"/>
          <p:cNvSpPr/>
          <p:nvPr/>
        </p:nvSpPr>
        <p:spPr>
          <a:xfrm>
            <a:off x="3388509" y="4119097"/>
            <a:ext cx="12501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⚡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570675" y="4068031"/>
            <a:ext cx="2184788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50" dirty="0">
                <a:solidFill>
                  <a:srgbClr val="4A00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ServiceNow eliminated — SKU issues resolved in seconds, not days</a:t>
            </a:r>
            <a:endParaRPr lang="en-US" sz="550" dirty="0"/>
          </a:p>
        </p:txBody>
      </p:sp>
      <p:sp>
        <p:nvSpPr>
          <p:cNvPr id="38" name="Text 35"/>
          <p:cNvSpPr/>
          <p:nvPr/>
        </p:nvSpPr>
        <p:spPr>
          <a:xfrm>
            <a:off x="6169800" y="2875527"/>
            <a:ext cx="171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000" b="1" dirty="0">
                <a:solidFill>
                  <a:srgbClr val="A100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06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412688" y="2886605"/>
            <a:ext cx="1448395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1A1A1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Recognition (ASC 606)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6169800" y="3089839"/>
            <a:ext cx="2509856" cy="389334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validates revenue allocation, performance obligations, and variable consideration as SKUs are added to the quote.</a:t>
            </a:r>
            <a:endParaRPr lang="en-US" sz="550" dirty="0"/>
          </a:p>
        </p:txBody>
      </p:sp>
      <p:sp>
        <p:nvSpPr>
          <p:cNvPr id="41" name="Shape 38"/>
          <p:cNvSpPr/>
          <p:nvPr/>
        </p:nvSpPr>
        <p:spPr>
          <a:xfrm>
            <a:off x="6169800" y="4010881"/>
            <a:ext cx="2509856" cy="334305"/>
          </a:xfrm>
          <a:prstGeom prst="rect">
            <a:avLst/>
          </a:prstGeom>
          <a:solidFill>
            <a:srgbClr val="F4ECFF"/>
          </a:solidFill>
          <a:ln/>
        </p:spPr>
      </p:sp>
      <p:sp>
        <p:nvSpPr>
          <p:cNvPr id="42" name="Text 39"/>
          <p:cNvSpPr/>
          <p:nvPr/>
        </p:nvSpPr>
        <p:spPr>
          <a:xfrm>
            <a:off x="6241238" y="4119097"/>
            <a:ext cx="12501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✅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6423403" y="4068031"/>
            <a:ext cx="2184815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50" dirty="0">
                <a:solidFill>
                  <a:srgbClr val="4A00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Finance compliance built-in — no post-submission audit surprises</a:t>
            </a:r>
            <a:endParaRPr lang="en-US" sz="550" dirty="0"/>
          </a:p>
        </p:txBody>
      </p:sp>
      <p:sp>
        <p:nvSpPr>
          <p:cNvPr id="44" name="Shape 41"/>
          <p:cNvSpPr/>
          <p:nvPr/>
        </p:nvSpPr>
        <p:spPr>
          <a:xfrm>
            <a:off x="342900" y="4680942"/>
            <a:ext cx="8458200" cy="291108"/>
          </a:xfrm>
          <a:prstGeom prst="rect">
            <a:avLst/>
          </a:prstGeom>
          <a:solidFill>
            <a:srgbClr val="FAFAFA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85775" y="4790777"/>
            <a:ext cx="603647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50" spc="1" kern="0" dirty="0">
                <a:solidFill>
                  <a:srgbClr val="999999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RESPONSE TIME</a:t>
            </a:r>
            <a:endParaRPr lang="en-US" sz="450" dirty="0"/>
          </a:p>
        </p:txBody>
      </p:sp>
      <p:sp>
        <p:nvSpPr>
          <p:cNvPr id="46" name="Text 43"/>
          <p:cNvSpPr/>
          <p:nvPr/>
        </p:nvSpPr>
        <p:spPr>
          <a:xfrm>
            <a:off x="1146572" y="4780955"/>
            <a:ext cx="946547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A00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&lt;200ms per validation</a:t>
            </a:r>
            <a:endParaRPr lang="en-US" sz="600" dirty="0"/>
          </a:p>
        </p:txBody>
      </p:sp>
      <p:sp>
        <p:nvSpPr>
          <p:cNvPr id="47" name="Text 44"/>
          <p:cNvSpPr/>
          <p:nvPr/>
        </p:nvSpPr>
        <p:spPr>
          <a:xfrm>
            <a:off x="2846784" y="4790777"/>
            <a:ext cx="603647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50" spc="1" kern="0" dirty="0">
                <a:solidFill>
                  <a:srgbClr val="999999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TRIGGER POINT</a:t>
            </a:r>
            <a:endParaRPr lang="en-US" sz="450" dirty="0"/>
          </a:p>
        </p:txBody>
      </p:sp>
      <p:sp>
        <p:nvSpPr>
          <p:cNvPr id="48" name="Text 45"/>
          <p:cNvSpPr/>
          <p:nvPr/>
        </p:nvSpPr>
        <p:spPr>
          <a:xfrm>
            <a:off x="3507581" y="4780955"/>
            <a:ext cx="1159073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A00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Every configuration change</a:t>
            </a:r>
            <a:endParaRPr lang="en-US" sz="600" dirty="0"/>
          </a:p>
        </p:txBody>
      </p:sp>
      <p:sp>
        <p:nvSpPr>
          <p:cNvPr id="49" name="Text 46"/>
          <p:cNvSpPr/>
          <p:nvPr/>
        </p:nvSpPr>
        <p:spPr>
          <a:xfrm>
            <a:off x="5420320" y="4790777"/>
            <a:ext cx="371475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50" spc="1" kern="0" dirty="0">
                <a:solidFill>
                  <a:srgbClr val="999999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COVERAGE</a:t>
            </a:r>
            <a:endParaRPr lang="en-US" sz="450" dirty="0"/>
          </a:p>
        </p:txBody>
      </p:sp>
      <p:sp>
        <p:nvSpPr>
          <p:cNvPr id="50" name="Text 47"/>
          <p:cNvSpPr/>
          <p:nvPr/>
        </p:nvSpPr>
        <p:spPr>
          <a:xfrm>
            <a:off x="5848945" y="4780955"/>
            <a:ext cx="973336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A00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100% of deal attributes</a:t>
            </a:r>
            <a:endParaRPr lang="en-US" sz="600" dirty="0"/>
          </a:p>
        </p:txBody>
      </p:sp>
      <p:sp>
        <p:nvSpPr>
          <p:cNvPr id="51" name="Text 48"/>
          <p:cNvSpPr/>
          <p:nvPr/>
        </p:nvSpPr>
        <p:spPr>
          <a:xfrm>
            <a:off x="7575947" y="4790777"/>
            <a:ext cx="23217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50" spc="1" kern="0" dirty="0">
                <a:solidFill>
                  <a:srgbClr val="999999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AUDIT</a:t>
            </a:r>
            <a:endParaRPr lang="en-US" sz="450" dirty="0"/>
          </a:p>
        </p:txBody>
      </p:sp>
      <p:sp>
        <p:nvSpPr>
          <p:cNvPr id="52" name="Text 49"/>
          <p:cNvSpPr/>
          <p:nvPr/>
        </p:nvSpPr>
        <p:spPr>
          <a:xfrm>
            <a:off x="7865269" y="4780955"/>
            <a:ext cx="792956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A00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Full immutable trail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00025"/>
            <a:ext cx="4822031" cy="94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spc="2" kern="0" dirty="0">
                <a:solidFill>
                  <a:srgbClr val="A100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IMPLEMENTATION &amp; GO-LIVE</a:t>
            </a:r>
            <a:endParaRPr lang="en-US" sz="500" dirty="0"/>
          </a:p>
        </p:txBody>
      </p:sp>
      <p:sp>
        <p:nvSpPr>
          <p:cNvPr id="4" name="Text 1"/>
          <p:cNvSpPr/>
          <p:nvPr/>
        </p:nvSpPr>
        <p:spPr>
          <a:xfrm>
            <a:off x="342900" y="337542"/>
            <a:ext cx="482203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1A1A1D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Integration Approach, Approval Routing &amp; 90-Day Rollout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42900" y="671847"/>
            <a:ext cx="2143125" cy="137517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spc="2" kern="0" dirty="0">
                <a:solidFill>
                  <a:srgbClr val="4A008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INTEGRATION APPROACH</a:t>
            </a:r>
            <a:endParaRPr lang="en-US" sz="500" dirty="0"/>
          </a:p>
        </p:txBody>
      </p:sp>
      <p:sp>
        <p:nvSpPr>
          <p:cNvPr id="6" name="Shape 3"/>
          <p:cNvSpPr/>
          <p:nvPr/>
        </p:nvSpPr>
        <p:spPr>
          <a:xfrm>
            <a:off x="342900" y="895090"/>
            <a:ext cx="2143125" cy="491133"/>
          </a:xfrm>
          <a:prstGeom prst="rect">
            <a:avLst/>
          </a:prstGeom>
          <a:solidFill>
            <a:srgbClr val="FAFAFA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8625" y="966527"/>
            <a:ext cx="157163" cy="157163"/>
          </a:xfrm>
          <a:prstGeom prst="rect">
            <a:avLst/>
          </a:prstGeom>
          <a:solidFill>
            <a:srgbClr val="F4ECFF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966527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4A008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1</a:t>
            </a:r>
            <a:endParaRPr lang="en-US" sz="500" dirty="0"/>
          </a:p>
        </p:txBody>
      </p:sp>
      <p:sp>
        <p:nvSpPr>
          <p:cNvPr id="9" name="Text 6"/>
          <p:cNvSpPr/>
          <p:nvPr/>
        </p:nvSpPr>
        <p:spPr>
          <a:xfrm>
            <a:off x="657225" y="966527"/>
            <a:ext cx="1743075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A1A1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Extends D365 — No Rip-and-Replace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657225" y="1086185"/>
            <a:ext cx="17430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Hooks into existing CPQ workflow. All data stays in D365 as system of record.</a:t>
            </a:r>
            <a:endParaRPr lang="en-US" sz="500" dirty="0"/>
          </a:p>
        </p:txBody>
      </p:sp>
      <p:sp>
        <p:nvSpPr>
          <p:cNvPr id="11" name="Shape 8"/>
          <p:cNvSpPr/>
          <p:nvPr/>
        </p:nvSpPr>
        <p:spPr>
          <a:xfrm>
            <a:off x="342900" y="1443372"/>
            <a:ext cx="2143125" cy="491133"/>
          </a:xfrm>
          <a:prstGeom prst="rect">
            <a:avLst/>
          </a:prstGeom>
          <a:solidFill>
            <a:srgbClr val="FAFAFA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8625" y="1514810"/>
            <a:ext cx="157163" cy="157163"/>
          </a:xfrm>
          <a:prstGeom prst="rect">
            <a:avLst/>
          </a:prstGeom>
          <a:solidFill>
            <a:srgbClr val="F4ECFF"/>
          </a:solidFill>
          <a:ln/>
        </p:spPr>
      </p:sp>
      <p:sp>
        <p:nvSpPr>
          <p:cNvPr id="13" name="Text 10"/>
          <p:cNvSpPr/>
          <p:nvPr/>
        </p:nvSpPr>
        <p:spPr>
          <a:xfrm>
            <a:off x="428625" y="151481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4A008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2</a:t>
            </a:r>
            <a:endParaRPr lang="en-US" sz="500" dirty="0"/>
          </a:p>
        </p:txBody>
      </p:sp>
      <p:sp>
        <p:nvSpPr>
          <p:cNvPr id="14" name="Text 11"/>
          <p:cNvSpPr/>
          <p:nvPr/>
        </p:nvSpPr>
        <p:spPr>
          <a:xfrm>
            <a:off x="657225" y="1514810"/>
            <a:ext cx="1743075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A1A1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Event Architecture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657225" y="1634468"/>
            <a:ext cx="17430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configuration change triggers validation. Sub-200ms response. No batch processing.</a:t>
            </a:r>
            <a:endParaRPr lang="en-US" sz="500" dirty="0"/>
          </a:p>
        </p:txBody>
      </p:sp>
      <p:sp>
        <p:nvSpPr>
          <p:cNvPr id="16" name="Shape 13"/>
          <p:cNvSpPr/>
          <p:nvPr/>
        </p:nvSpPr>
        <p:spPr>
          <a:xfrm>
            <a:off x="342900" y="1991655"/>
            <a:ext cx="2143125" cy="491133"/>
          </a:xfrm>
          <a:prstGeom prst="rect">
            <a:avLst/>
          </a:prstGeom>
          <a:solidFill>
            <a:srgbClr val="FAFAFA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8625" y="2063093"/>
            <a:ext cx="157163" cy="157163"/>
          </a:xfrm>
          <a:prstGeom prst="rect">
            <a:avLst/>
          </a:prstGeom>
          <a:solidFill>
            <a:srgbClr val="F4ECFF"/>
          </a:solidFill>
          <a:ln/>
        </p:spPr>
      </p:sp>
      <p:sp>
        <p:nvSpPr>
          <p:cNvPr id="18" name="Text 15"/>
          <p:cNvSpPr/>
          <p:nvPr/>
        </p:nvSpPr>
        <p:spPr>
          <a:xfrm>
            <a:off x="428625" y="206309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4A008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3</a:t>
            </a:r>
            <a:endParaRPr lang="en-US" sz="500" dirty="0"/>
          </a:p>
        </p:txBody>
      </p:sp>
      <p:sp>
        <p:nvSpPr>
          <p:cNvPr id="19" name="Text 16"/>
          <p:cNvSpPr/>
          <p:nvPr/>
        </p:nvSpPr>
        <p:spPr>
          <a:xfrm>
            <a:off x="657225" y="2063093"/>
            <a:ext cx="1743075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A1A1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ML-Powered Decision Layer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657225" y="2182750"/>
            <a:ext cx="17430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Trained on 18 months of historical outcomes. Retrained monthly. Transparent scoring factors.</a:t>
            </a:r>
            <a:endParaRPr lang="en-US" sz="500" dirty="0"/>
          </a:p>
        </p:txBody>
      </p:sp>
      <p:sp>
        <p:nvSpPr>
          <p:cNvPr id="21" name="Shape 18"/>
          <p:cNvSpPr/>
          <p:nvPr/>
        </p:nvSpPr>
        <p:spPr>
          <a:xfrm>
            <a:off x="342900" y="2539938"/>
            <a:ext cx="2143125" cy="491133"/>
          </a:xfrm>
          <a:prstGeom prst="rect">
            <a:avLst/>
          </a:prstGeom>
          <a:solidFill>
            <a:srgbClr val="FAFAFA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28625" y="2611375"/>
            <a:ext cx="157163" cy="157163"/>
          </a:xfrm>
          <a:prstGeom prst="rect">
            <a:avLst/>
          </a:prstGeom>
          <a:solidFill>
            <a:srgbClr val="F4ECFF"/>
          </a:solidFill>
          <a:ln/>
        </p:spPr>
      </p:sp>
      <p:sp>
        <p:nvSpPr>
          <p:cNvPr id="23" name="Text 20"/>
          <p:cNvSpPr/>
          <p:nvPr/>
        </p:nvSpPr>
        <p:spPr>
          <a:xfrm>
            <a:off x="428625" y="2611375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4A008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4</a:t>
            </a:r>
            <a:endParaRPr lang="en-US" sz="500" dirty="0"/>
          </a:p>
        </p:txBody>
      </p:sp>
      <p:sp>
        <p:nvSpPr>
          <p:cNvPr id="24" name="Text 21"/>
          <p:cNvSpPr/>
          <p:nvPr/>
        </p:nvSpPr>
        <p:spPr>
          <a:xfrm>
            <a:off x="657225" y="2611375"/>
            <a:ext cx="1743075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A1A1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Full Audit &amp; Compliance Trail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657225" y="2731033"/>
            <a:ext cx="17430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decision logged with actor, timestamp, and rationale. Immutable. DoA-compliant.</a:t>
            </a:r>
            <a:endParaRPr lang="en-US" sz="500" dirty="0"/>
          </a:p>
        </p:txBody>
      </p:sp>
      <p:sp>
        <p:nvSpPr>
          <p:cNvPr id="26" name="Shape 23"/>
          <p:cNvSpPr/>
          <p:nvPr/>
        </p:nvSpPr>
        <p:spPr>
          <a:xfrm>
            <a:off x="342900" y="4266298"/>
            <a:ext cx="2143125" cy="705752"/>
          </a:xfrm>
          <a:prstGeom prst="rect">
            <a:avLst/>
          </a:prstGeom>
          <a:solidFill>
            <a:srgbClr val="2D004D"/>
          </a:solidFill>
          <a:ln/>
        </p:spPr>
      </p:sp>
      <p:sp>
        <p:nvSpPr>
          <p:cNvPr id="27" name="Text 24"/>
          <p:cNvSpPr/>
          <p:nvPr/>
        </p:nvSpPr>
        <p:spPr>
          <a:xfrm>
            <a:off x="457200" y="4366310"/>
            <a:ext cx="19145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50" b="1" spc="1" kern="0" dirty="0">
                <a:solidFill>
                  <a:srgbClr val="D9B3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RISK MITIGATION</a:t>
            </a:r>
            <a:endParaRPr lang="en-US" sz="450" dirty="0"/>
          </a:p>
        </p:txBody>
      </p:sp>
      <p:sp>
        <p:nvSpPr>
          <p:cNvPr id="28" name="Text 25"/>
          <p:cNvSpPr/>
          <p:nvPr/>
        </p:nvSpPr>
        <p:spPr>
          <a:xfrm>
            <a:off x="457200" y="4494898"/>
            <a:ext cx="1914525" cy="377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Phased rollout with kill-switch. Shadow mode first (observe, don't block). Full rollback capability at every stage.</a:t>
            </a:r>
            <a:endParaRPr lang="en-US" sz="550" dirty="0"/>
          </a:p>
        </p:txBody>
      </p:sp>
      <p:sp>
        <p:nvSpPr>
          <p:cNvPr id="29" name="Text 26"/>
          <p:cNvSpPr/>
          <p:nvPr/>
        </p:nvSpPr>
        <p:spPr>
          <a:xfrm>
            <a:off x="2764631" y="671847"/>
            <a:ext cx="3471863" cy="137517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spc="2" kern="0" dirty="0">
                <a:solidFill>
                  <a:srgbClr val="4A008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INTELLIGENT APPROVAL ROUTING</a:t>
            </a:r>
            <a:endParaRPr lang="en-US" sz="500" dirty="0"/>
          </a:p>
        </p:txBody>
      </p:sp>
      <p:sp>
        <p:nvSpPr>
          <p:cNvPr id="30" name="Shape 27"/>
          <p:cNvSpPr/>
          <p:nvPr/>
        </p:nvSpPr>
        <p:spPr>
          <a:xfrm>
            <a:off x="2764631" y="895090"/>
            <a:ext cx="3471863" cy="383977"/>
          </a:xfrm>
          <a:prstGeom prst="rect">
            <a:avLst/>
          </a:prstGeom>
          <a:solidFill>
            <a:srgbClr val="F4ECFF"/>
          </a:solidFill>
          <a:ln w="9144">
            <a:solidFill>
              <a:srgbClr val="D9B3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864644" y="966527"/>
            <a:ext cx="3271838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A00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Quote Configuration Complete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2864644" y="1093329"/>
            <a:ext cx="32718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6 engines have validated — results aggregated</a:t>
            </a:r>
            <a:endParaRPr lang="en-US" sz="500" dirty="0"/>
          </a:p>
        </p:txBody>
      </p:sp>
      <p:sp>
        <p:nvSpPr>
          <p:cNvPr id="33" name="Text 30"/>
          <p:cNvSpPr/>
          <p:nvPr/>
        </p:nvSpPr>
        <p:spPr>
          <a:xfrm>
            <a:off x="2764631" y="1307641"/>
            <a:ext cx="3471863" cy="141089"/>
          </a:xfrm>
          <a:prstGeom prst="rect">
            <a:avLst/>
          </a:prstGeom>
          <a:noFill/>
          <a:ln/>
        </p:spPr>
        <p:txBody>
          <a:bodyPr wrap="square" lIns="0" tIns="25527" rIns="0" bIns="25527" rtlCol="0" anchor="t">
            <a:spAutoFit/>
          </a:bodyPr>
          <a:lstStyle/>
          <a:p>
            <a:pPr algn="ctr" indent="0" marL="0">
              <a:buNone/>
            </a:pPr>
            <a:r>
              <a:rPr lang="en-US" sz="500" dirty="0">
                <a:solidFill>
                  <a:srgbClr val="AAAA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▼</a:t>
            </a:r>
            <a:endParaRPr lang="en-US" sz="500" dirty="0"/>
          </a:p>
        </p:txBody>
      </p:sp>
      <p:sp>
        <p:nvSpPr>
          <p:cNvPr id="34" name="Shape 31"/>
          <p:cNvSpPr/>
          <p:nvPr/>
        </p:nvSpPr>
        <p:spPr>
          <a:xfrm>
            <a:off x="2764631" y="1448730"/>
            <a:ext cx="3471863" cy="398264"/>
          </a:xfrm>
          <a:prstGeom prst="rect">
            <a:avLst/>
          </a:prstGeom>
          <a:solidFill>
            <a:srgbClr val="FFFFFF"/>
          </a:solidFill>
          <a:ln w="18288">
            <a:solidFill>
              <a:srgbClr val="A100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864644" y="1520168"/>
            <a:ext cx="3271838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A00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Approval Confidence Assessment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2864644" y="1646969"/>
            <a:ext cx="32718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score + zero critical flags + within DoA thresholds?</a:t>
            </a:r>
            <a:endParaRPr lang="en-US" sz="500" dirty="0"/>
          </a:p>
        </p:txBody>
      </p:sp>
      <p:sp>
        <p:nvSpPr>
          <p:cNvPr id="37" name="Text 34"/>
          <p:cNvSpPr/>
          <p:nvPr/>
        </p:nvSpPr>
        <p:spPr>
          <a:xfrm>
            <a:off x="2764631" y="1861282"/>
            <a:ext cx="3471863" cy="141089"/>
          </a:xfrm>
          <a:prstGeom prst="rect">
            <a:avLst/>
          </a:prstGeom>
          <a:noFill/>
          <a:ln/>
        </p:spPr>
        <p:txBody>
          <a:bodyPr wrap="square" lIns="0" tIns="25527" rIns="0" bIns="25527" rtlCol="0" anchor="t">
            <a:spAutoFit/>
          </a:bodyPr>
          <a:lstStyle/>
          <a:p>
            <a:pPr algn="ctr" indent="0" marL="0">
              <a:buNone/>
            </a:pPr>
            <a:r>
              <a:rPr lang="en-US" sz="500" dirty="0">
                <a:solidFill>
                  <a:srgbClr val="AAAA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▼ Decision Gate ▼</a:t>
            </a:r>
            <a:endParaRPr lang="en-US" sz="500" dirty="0"/>
          </a:p>
        </p:txBody>
      </p:sp>
      <p:sp>
        <p:nvSpPr>
          <p:cNvPr id="38" name="Shape 35"/>
          <p:cNvSpPr/>
          <p:nvPr/>
        </p:nvSpPr>
        <p:spPr>
          <a:xfrm>
            <a:off x="2764631" y="2045233"/>
            <a:ext cx="1700213" cy="791170"/>
          </a:xfrm>
          <a:prstGeom prst="rect">
            <a:avLst/>
          </a:prstGeom>
          <a:solidFill>
            <a:srgbClr val="E8FFE8"/>
          </a:solidFill>
          <a:ln w="9144">
            <a:solidFill>
              <a:srgbClr val="88CC8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850356" y="2130958"/>
            <a:ext cx="15287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50" b="1" spc="1" kern="0" dirty="0">
                <a:solidFill>
                  <a:srgbClr val="1A6B1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AUTO-APPROVE</a:t>
            </a:r>
            <a:endParaRPr lang="en-US" sz="450" dirty="0"/>
          </a:p>
        </p:txBody>
      </p:sp>
      <p:sp>
        <p:nvSpPr>
          <p:cNvPr id="40" name="Text 37"/>
          <p:cNvSpPr/>
          <p:nvPr/>
        </p:nvSpPr>
        <p:spPr>
          <a:xfrm>
            <a:off x="2850356" y="2245258"/>
            <a:ext cx="152876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1A1A1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Instant Approval</a:t>
            </a:r>
            <a:endParaRPr lang="en-US" sz="550" dirty="0"/>
          </a:p>
        </p:txBody>
      </p:sp>
      <p:sp>
        <p:nvSpPr>
          <p:cNvPr id="41" name="Text 38"/>
          <p:cNvSpPr/>
          <p:nvPr/>
        </p:nvSpPr>
        <p:spPr>
          <a:xfrm>
            <a:off x="2850356" y="2370274"/>
            <a:ext cx="152876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confidence, no critical flags, within standard thresholds</a:t>
            </a:r>
            <a:endParaRPr lang="en-US" sz="500" dirty="0"/>
          </a:p>
        </p:txBody>
      </p:sp>
      <p:sp>
        <p:nvSpPr>
          <p:cNvPr id="42" name="Text 39"/>
          <p:cNvSpPr/>
          <p:nvPr/>
        </p:nvSpPr>
        <p:spPr>
          <a:xfrm>
            <a:off x="2850356" y="2641736"/>
            <a:ext cx="1528763" cy="94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1A6B1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Target: 30% of deals</a:t>
            </a:r>
            <a:endParaRPr lang="en-US" sz="500" dirty="0"/>
          </a:p>
        </p:txBody>
      </p:sp>
      <p:sp>
        <p:nvSpPr>
          <p:cNvPr id="43" name="Shape 40"/>
          <p:cNvSpPr/>
          <p:nvPr/>
        </p:nvSpPr>
        <p:spPr>
          <a:xfrm>
            <a:off x="4536281" y="2045233"/>
            <a:ext cx="1700213" cy="791170"/>
          </a:xfrm>
          <a:prstGeom prst="rect">
            <a:avLst/>
          </a:prstGeom>
          <a:solidFill>
            <a:srgbClr val="FFF8E8"/>
          </a:solidFill>
          <a:ln w="9144">
            <a:solidFill>
              <a:srgbClr val="CCAA5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622006" y="2130958"/>
            <a:ext cx="15287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50" b="1" spc="1" kern="0" dirty="0">
                <a:solidFill>
                  <a:srgbClr val="8B6914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SMART ROUTING</a:t>
            </a:r>
            <a:endParaRPr lang="en-US" sz="450" dirty="0"/>
          </a:p>
        </p:txBody>
      </p:sp>
      <p:sp>
        <p:nvSpPr>
          <p:cNvPr id="45" name="Text 42"/>
          <p:cNvSpPr/>
          <p:nvPr/>
        </p:nvSpPr>
        <p:spPr>
          <a:xfrm>
            <a:off x="4622006" y="2245258"/>
            <a:ext cx="152876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1A1A1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Right Approver, First Time</a:t>
            </a:r>
            <a:endParaRPr lang="en-US" sz="550" dirty="0"/>
          </a:p>
        </p:txBody>
      </p:sp>
      <p:sp>
        <p:nvSpPr>
          <p:cNvPr id="46" name="Text 43"/>
          <p:cNvSpPr/>
          <p:nvPr/>
        </p:nvSpPr>
        <p:spPr>
          <a:xfrm>
            <a:off x="4622006" y="2370274"/>
            <a:ext cx="152876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Routed to correct DoA tier based on deal value and risk profile</a:t>
            </a:r>
            <a:endParaRPr lang="en-US" sz="500" dirty="0"/>
          </a:p>
        </p:txBody>
      </p:sp>
      <p:sp>
        <p:nvSpPr>
          <p:cNvPr id="47" name="Text 44"/>
          <p:cNvSpPr/>
          <p:nvPr/>
        </p:nvSpPr>
        <p:spPr>
          <a:xfrm>
            <a:off x="4622006" y="2641736"/>
            <a:ext cx="1528763" cy="94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B6914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Tier 1 / 2 / 3 routing</a:t>
            </a:r>
            <a:endParaRPr lang="en-US" sz="500" dirty="0"/>
          </a:p>
        </p:txBody>
      </p:sp>
      <p:sp>
        <p:nvSpPr>
          <p:cNvPr id="48" name="Text 45"/>
          <p:cNvSpPr/>
          <p:nvPr/>
        </p:nvSpPr>
        <p:spPr>
          <a:xfrm>
            <a:off x="2764631" y="2822116"/>
            <a:ext cx="3471863" cy="141089"/>
          </a:xfrm>
          <a:prstGeom prst="rect">
            <a:avLst/>
          </a:prstGeom>
          <a:noFill/>
          <a:ln/>
        </p:spPr>
        <p:txBody>
          <a:bodyPr wrap="square" lIns="0" tIns="25527" rIns="0" bIns="25527" rtlCol="0" anchor="t">
            <a:spAutoFit/>
          </a:bodyPr>
          <a:lstStyle/>
          <a:p>
            <a:pPr algn="ctr" indent="0" marL="0">
              <a:buNone/>
            </a:pPr>
            <a:r>
              <a:rPr lang="en-US" sz="500" dirty="0">
                <a:solidFill>
                  <a:srgbClr val="AAAA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▼</a:t>
            </a:r>
            <a:endParaRPr lang="en-US" sz="500" dirty="0"/>
          </a:p>
        </p:txBody>
      </p:sp>
      <p:sp>
        <p:nvSpPr>
          <p:cNvPr id="49" name="Shape 46"/>
          <p:cNvSpPr/>
          <p:nvPr/>
        </p:nvSpPr>
        <p:spPr>
          <a:xfrm>
            <a:off x="2764631" y="3020355"/>
            <a:ext cx="3471863" cy="383977"/>
          </a:xfrm>
          <a:prstGeom prst="rect">
            <a:avLst/>
          </a:prstGeom>
          <a:solidFill>
            <a:srgbClr val="F8F8F8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864644" y="3091793"/>
            <a:ext cx="3271838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A00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Approved — Advances to Contracting</a:t>
            </a:r>
            <a:endParaRPr lang="en-US" sz="600" dirty="0"/>
          </a:p>
        </p:txBody>
      </p:sp>
      <p:sp>
        <p:nvSpPr>
          <p:cNvPr id="51" name="Text 48"/>
          <p:cNvSpPr/>
          <p:nvPr/>
        </p:nvSpPr>
        <p:spPr>
          <a:xfrm>
            <a:off x="2864644" y="3218594"/>
            <a:ext cx="32718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88%+ first-time approval rate (vs. 54% today)</a:t>
            </a:r>
            <a:endParaRPr lang="en-US" sz="500" dirty="0"/>
          </a:p>
        </p:txBody>
      </p:sp>
      <p:sp>
        <p:nvSpPr>
          <p:cNvPr id="52" name="Text 49"/>
          <p:cNvSpPr/>
          <p:nvPr/>
        </p:nvSpPr>
        <p:spPr>
          <a:xfrm>
            <a:off x="6515100" y="671847"/>
            <a:ext cx="2286000" cy="137517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spc="2" kern="0" dirty="0">
                <a:solidFill>
                  <a:srgbClr val="4A008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90-DAY PHASED ROLLOUT</a:t>
            </a:r>
            <a:endParaRPr lang="en-US" sz="500" dirty="0"/>
          </a:p>
        </p:txBody>
      </p:sp>
      <p:sp>
        <p:nvSpPr>
          <p:cNvPr id="53" name="Text 50"/>
          <p:cNvSpPr/>
          <p:nvPr/>
        </p:nvSpPr>
        <p:spPr>
          <a:xfrm>
            <a:off x="6829425" y="980815"/>
            <a:ext cx="1971675" cy="94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100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DAYS 1–30</a:t>
            </a:r>
            <a:endParaRPr lang="en-US" sz="500" dirty="0"/>
          </a:p>
        </p:txBody>
      </p:sp>
      <p:sp>
        <p:nvSpPr>
          <p:cNvPr id="54" name="Text 51"/>
          <p:cNvSpPr/>
          <p:nvPr/>
        </p:nvSpPr>
        <p:spPr>
          <a:xfrm>
            <a:off x="6829425" y="1096900"/>
            <a:ext cx="197167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A1A1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DACH Pilot</a:t>
            </a:r>
            <a:endParaRPr lang="en-US" sz="650" dirty="0"/>
          </a:p>
        </p:txBody>
      </p:sp>
      <p:sp>
        <p:nvSpPr>
          <p:cNvPr id="55" name="Text 52"/>
          <p:cNvSpPr/>
          <p:nvPr/>
        </p:nvSpPr>
        <p:spPr>
          <a:xfrm>
            <a:off x="6829425" y="1230846"/>
            <a:ext cx="19716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AEs. Shadow mode first, then live. Validate performance baselines and user adoption.</a:t>
            </a:r>
            <a:endParaRPr lang="en-US" sz="500" dirty="0"/>
          </a:p>
        </p:txBody>
      </p:sp>
      <p:sp>
        <p:nvSpPr>
          <p:cNvPr id="56" name="Text 53"/>
          <p:cNvSpPr/>
          <p:nvPr/>
        </p:nvSpPr>
        <p:spPr>
          <a:xfrm>
            <a:off x="6829425" y="1623752"/>
            <a:ext cx="1971675" cy="94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100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DAYS 31–60</a:t>
            </a:r>
            <a:endParaRPr lang="en-US" sz="500" dirty="0"/>
          </a:p>
        </p:txBody>
      </p:sp>
      <p:sp>
        <p:nvSpPr>
          <p:cNvPr id="57" name="Text 54"/>
          <p:cNvSpPr/>
          <p:nvPr/>
        </p:nvSpPr>
        <p:spPr>
          <a:xfrm>
            <a:off x="6829425" y="1739838"/>
            <a:ext cx="197167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A1A1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 Expansion</a:t>
            </a:r>
            <a:endParaRPr lang="en-US" sz="650" dirty="0"/>
          </a:p>
        </p:txBody>
      </p:sp>
      <p:sp>
        <p:nvSpPr>
          <p:cNvPr id="58" name="Text 55"/>
          <p:cNvSpPr/>
          <p:nvPr/>
        </p:nvSpPr>
        <p:spPr>
          <a:xfrm>
            <a:off x="6829425" y="1873783"/>
            <a:ext cx="19716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North America. Enable auto-approval path. Launch Customer Portal beta.</a:t>
            </a:r>
            <a:endParaRPr lang="en-US" sz="500" dirty="0"/>
          </a:p>
        </p:txBody>
      </p:sp>
      <p:sp>
        <p:nvSpPr>
          <p:cNvPr id="59" name="Text 56"/>
          <p:cNvSpPr/>
          <p:nvPr/>
        </p:nvSpPr>
        <p:spPr>
          <a:xfrm>
            <a:off x="6829425" y="2266690"/>
            <a:ext cx="1971675" cy="94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100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DAYS 61–90</a:t>
            </a:r>
            <a:endParaRPr lang="en-US" sz="500" dirty="0"/>
          </a:p>
        </p:txBody>
      </p:sp>
      <p:sp>
        <p:nvSpPr>
          <p:cNvPr id="60" name="Text 57"/>
          <p:cNvSpPr/>
          <p:nvPr/>
        </p:nvSpPr>
        <p:spPr>
          <a:xfrm>
            <a:off x="6829425" y="2382775"/>
            <a:ext cx="197167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A1A1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Global Rollout</a:t>
            </a:r>
            <a:endParaRPr lang="en-US" sz="650" dirty="0"/>
          </a:p>
        </p:txBody>
      </p:sp>
      <p:sp>
        <p:nvSpPr>
          <p:cNvPr id="61" name="Text 58"/>
          <p:cNvSpPr/>
          <p:nvPr/>
        </p:nvSpPr>
        <p:spPr>
          <a:xfrm>
            <a:off x="6829425" y="2516721"/>
            <a:ext cx="19716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regions live. Full automation. ServiceNow decommissioned. ML model retrained on pilot data.</a:t>
            </a:r>
            <a:endParaRPr lang="en-US" sz="500" dirty="0"/>
          </a:p>
        </p:txBody>
      </p:sp>
      <p:sp>
        <p:nvSpPr>
          <p:cNvPr id="62" name="Shape 59"/>
          <p:cNvSpPr/>
          <p:nvPr/>
        </p:nvSpPr>
        <p:spPr>
          <a:xfrm>
            <a:off x="6515100" y="4171950"/>
            <a:ext cx="2286000" cy="800100"/>
          </a:xfrm>
          <a:prstGeom prst="rect">
            <a:avLst/>
          </a:prstGeom>
          <a:solidFill>
            <a:srgbClr val="F4ECFF"/>
          </a:solidFill>
          <a:ln/>
        </p:spPr>
      </p:sp>
      <p:sp>
        <p:nvSpPr>
          <p:cNvPr id="63" name="Text 60"/>
          <p:cNvSpPr/>
          <p:nvPr/>
        </p:nvSpPr>
        <p:spPr>
          <a:xfrm>
            <a:off x="6629400" y="4271963"/>
            <a:ext cx="20574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50" b="1" spc="1" kern="0" dirty="0">
                <a:solidFill>
                  <a:srgbClr val="4A008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DAY 90 SUCCESS METRICS</a:t>
            </a:r>
            <a:endParaRPr lang="en-US" sz="450" dirty="0"/>
          </a:p>
        </p:txBody>
      </p:sp>
      <p:sp>
        <p:nvSpPr>
          <p:cNvPr id="64" name="Text 61"/>
          <p:cNvSpPr/>
          <p:nvPr/>
        </p:nvSpPr>
        <p:spPr>
          <a:xfrm>
            <a:off x="6629400" y="4414838"/>
            <a:ext cx="1007269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Rejection Rate</a:t>
            </a:r>
            <a:endParaRPr lang="en-US" sz="500" dirty="0"/>
          </a:p>
        </p:txBody>
      </p:sp>
      <p:sp>
        <p:nvSpPr>
          <p:cNvPr id="65" name="Text 62"/>
          <p:cNvSpPr/>
          <p:nvPr/>
        </p:nvSpPr>
        <p:spPr>
          <a:xfrm>
            <a:off x="6629400" y="4509492"/>
            <a:ext cx="100726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4A008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46% → &lt;12%</a:t>
            </a:r>
            <a:endParaRPr lang="en-US" sz="650" dirty="0"/>
          </a:p>
        </p:txBody>
      </p:sp>
      <p:sp>
        <p:nvSpPr>
          <p:cNvPr id="66" name="Text 63"/>
          <p:cNvSpPr/>
          <p:nvPr/>
        </p:nvSpPr>
        <p:spPr>
          <a:xfrm>
            <a:off x="7679531" y="4414838"/>
            <a:ext cx="1007269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Cycle</a:t>
            </a:r>
            <a:endParaRPr lang="en-US" sz="500" dirty="0"/>
          </a:p>
        </p:txBody>
      </p:sp>
      <p:sp>
        <p:nvSpPr>
          <p:cNvPr id="67" name="Text 64"/>
          <p:cNvSpPr/>
          <p:nvPr/>
        </p:nvSpPr>
        <p:spPr>
          <a:xfrm>
            <a:off x="7679531" y="4509492"/>
            <a:ext cx="100726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4A008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9.2d → &lt;3d</a:t>
            </a:r>
            <a:endParaRPr lang="en-US" sz="650" dirty="0"/>
          </a:p>
        </p:txBody>
      </p:sp>
      <p:sp>
        <p:nvSpPr>
          <p:cNvPr id="68" name="Text 65"/>
          <p:cNvSpPr/>
          <p:nvPr/>
        </p:nvSpPr>
        <p:spPr>
          <a:xfrm>
            <a:off x="6629400" y="4664869"/>
            <a:ext cx="1007269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Resubmissions</a:t>
            </a:r>
            <a:endParaRPr lang="en-US" sz="500" dirty="0"/>
          </a:p>
        </p:txBody>
      </p:sp>
      <p:sp>
        <p:nvSpPr>
          <p:cNvPr id="69" name="Text 66"/>
          <p:cNvSpPr/>
          <p:nvPr/>
        </p:nvSpPr>
        <p:spPr>
          <a:xfrm>
            <a:off x="6629400" y="4759523"/>
            <a:ext cx="100726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4A008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1.8× → 1.1×</a:t>
            </a:r>
            <a:endParaRPr lang="en-US" sz="650" dirty="0"/>
          </a:p>
        </p:txBody>
      </p:sp>
      <p:sp>
        <p:nvSpPr>
          <p:cNvPr id="70" name="Text 67"/>
          <p:cNvSpPr/>
          <p:nvPr/>
        </p:nvSpPr>
        <p:spPr>
          <a:xfrm>
            <a:off x="7679531" y="4664869"/>
            <a:ext cx="1007269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 Leakage</a:t>
            </a:r>
            <a:endParaRPr lang="en-US" sz="500" dirty="0"/>
          </a:p>
        </p:txBody>
      </p:sp>
      <p:sp>
        <p:nvSpPr>
          <p:cNvPr id="71" name="Text 68"/>
          <p:cNvSpPr/>
          <p:nvPr/>
        </p:nvSpPr>
        <p:spPr>
          <a:xfrm>
            <a:off x="7679531" y="4759523"/>
            <a:ext cx="100726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4A008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€25M → €0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2026-06-24T16:16:14Z</dcterms:created>
  <dcterms:modified xsi:type="dcterms:W3CDTF">2026-06-24T16:16:14Z</dcterms:modified>
</cp:coreProperties>
</file>