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4CD69B-BF39-944E-BB80-9680DCEC067D}" v="18" dt="2026-06-23T15:05:04.888"/>
    <p1510:client id="{F6A3ACF6-A1E9-39EE-B9E6-8D7C9D5D3455}" v="1" dt="2026-06-23T18:06:13.8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hosh, Tulika" userId="S::tulika.a.ghosh@accenture.com::bba2347a-9226-4733-bb7f-4910af4e140a" providerId="AD" clId="Web-{F6A3ACF6-A1E9-39EE-B9E6-8D7C9D5D3455}"/>
    <pc:docChg chg="modSld">
      <pc:chgData name="Ghosh, Tulika" userId="S::tulika.a.ghosh@accenture.com::bba2347a-9226-4733-bb7f-4910af4e140a" providerId="AD" clId="Web-{F6A3ACF6-A1E9-39EE-B9E6-8D7C9D5D3455}" dt="2026-06-23T18:06:13.866" v="0" actId="1076"/>
      <pc:docMkLst>
        <pc:docMk/>
      </pc:docMkLst>
      <pc:sldChg chg="modSp">
        <pc:chgData name="Ghosh, Tulika" userId="S::tulika.a.ghosh@accenture.com::bba2347a-9226-4733-bb7f-4910af4e140a" providerId="AD" clId="Web-{F6A3ACF6-A1E9-39EE-B9E6-8D7C9D5D3455}" dt="2026-06-23T18:06:13.866" v="0" actId="1076"/>
        <pc:sldMkLst>
          <pc:docMk/>
          <pc:sldMk cId="0" sldId="257"/>
        </pc:sldMkLst>
        <pc:spChg chg="mod">
          <ac:chgData name="Ghosh, Tulika" userId="S::tulika.a.ghosh@accenture.com::bba2347a-9226-4733-bb7f-4910af4e140a" providerId="AD" clId="Web-{F6A3ACF6-A1E9-39EE-B9E6-8D7C9D5D3455}" dt="2026-06-23T18:06:13.866" v="0" actId="1076"/>
          <ac:spMkLst>
            <pc:docMk/>
            <pc:sldMk cId="0" sldId="257"/>
            <ac:spMk id="11" creationId="{00000000-0000-0000-0000-000000000000}"/>
          </ac:spMkLst>
        </pc:spChg>
      </pc:sldChg>
    </pc:docChg>
  </pc:docChgLst>
  <pc:docChgLst>
    <pc:chgData name="Browning, Jason R." userId="3f9d5888-a9db-4609-81e5-861ddb04d7a1" providerId="ADAL" clId="{128CAB15-798C-5CCA-8D58-7033F9BFBD4B}"/>
    <pc:docChg chg="custSel modSld">
      <pc:chgData name="Browning, Jason R." userId="3f9d5888-a9db-4609-81e5-861ddb04d7a1" providerId="ADAL" clId="{128CAB15-798C-5CCA-8D58-7033F9BFBD4B}" dt="2026-06-23T15:05:04.888" v="17" actId="27636"/>
      <pc:docMkLst>
        <pc:docMk/>
      </pc:docMkLst>
      <pc:sldChg chg="modSp mod">
        <pc:chgData name="Browning, Jason R." userId="3f9d5888-a9db-4609-81e5-861ddb04d7a1" providerId="ADAL" clId="{128CAB15-798C-5CCA-8D58-7033F9BFBD4B}" dt="2026-06-23T15:05:04.888" v="17" actId="27636"/>
        <pc:sldMkLst>
          <pc:docMk/>
          <pc:sldMk cId="0" sldId="256"/>
        </pc:sldMkLst>
        <pc:spChg chg="mod">
          <ac:chgData name="Browning, Jason R." userId="3f9d5888-a9db-4609-81e5-861ddb04d7a1" providerId="ADAL" clId="{128CAB15-798C-5CCA-8D58-7033F9BFBD4B}" dt="2026-06-23T15:05:04.886" v="16" actId="27636"/>
          <ac:spMkLst>
            <pc:docMk/>
            <pc:sldMk cId="0" sldId="256"/>
            <ac:spMk id="8" creationId="{00000000-0000-0000-0000-000000000000}"/>
          </ac:spMkLst>
        </pc:spChg>
        <pc:spChg chg="mod">
          <ac:chgData name="Browning, Jason R." userId="3f9d5888-a9db-4609-81e5-861ddb04d7a1" providerId="ADAL" clId="{128CAB15-798C-5CCA-8D58-7033F9BFBD4B}" dt="2026-06-23T15:05:04.888" v="17" actId="27636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Browning, Jason R." userId="3f9d5888-a9db-4609-81e5-861ddb04d7a1" providerId="ADAL" clId="{128CAB15-798C-5CCA-8D58-7033F9BFBD4B}" dt="2026-06-23T15:05:04.808" v="0" actId="27636"/>
        <pc:sldMkLst>
          <pc:docMk/>
          <pc:sldMk cId="0" sldId="257"/>
        </pc:sldMkLst>
        <pc:spChg chg="mod">
          <ac:chgData name="Browning, Jason R." userId="3f9d5888-a9db-4609-81e5-861ddb04d7a1" providerId="ADAL" clId="{128CAB15-798C-5CCA-8D58-7033F9BFBD4B}" dt="2026-06-23T15:05:04.808" v="0" actId="27636"/>
          <ac:spMkLst>
            <pc:docMk/>
            <pc:sldMk cId="0" sldId="257"/>
            <ac:spMk id="7" creationId="{00000000-0000-0000-0000-000000000000}"/>
          </ac:spMkLst>
        </pc:spChg>
      </pc:sldChg>
      <pc:sldChg chg="modSp mod">
        <pc:chgData name="Browning, Jason R." userId="3f9d5888-a9db-4609-81e5-861ddb04d7a1" providerId="ADAL" clId="{128CAB15-798C-5CCA-8D58-7033F9BFBD4B}" dt="2026-06-23T15:05:04.852" v="3" actId="27636"/>
        <pc:sldMkLst>
          <pc:docMk/>
          <pc:sldMk cId="0" sldId="258"/>
        </pc:sldMkLst>
        <pc:spChg chg="mod">
          <ac:chgData name="Browning, Jason R." userId="3f9d5888-a9db-4609-81e5-861ddb04d7a1" providerId="ADAL" clId="{128CAB15-798C-5CCA-8D58-7033F9BFBD4B}" dt="2026-06-23T15:05:04.851" v="2" actId="27636"/>
          <ac:spMkLst>
            <pc:docMk/>
            <pc:sldMk cId="0" sldId="258"/>
            <ac:spMk id="6" creationId="{00000000-0000-0000-0000-000000000000}"/>
          </ac:spMkLst>
        </pc:spChg>
        <pc:spChg chg="mod">
          <ac:chgData name="Browning, Jason R." userId="3f9d5888-a9db-4609-81e5-861ddb04d7a1" providerId="ADAL" clId="{128CAB15-798C-5CCA-8D58-7033F9BFBD4B}" dt="2026-06-23T15:05:04.850" v="1" actId="27636"/>
          <ac:spMkLst>
            <pc:docMk/>
            <pc:sldMk cId="0" sldId="258"/>
            <ac:spMk id="7" creationId="{00000000-0000-0000-0000-000000000000}"/>
          </ac:spMkLst>
        </pc:spChg>
        <pc:spChg chg="mod">
          <ac:chgData name="Browning, Jason R." userId="3f9d5888-a9db-4609-81e5-861ddb04d7a1" providerId="ADAL" clId="{128CAB15-798C-5CCA-8D58-7033F9BFBD4B}" dt="2026-06-23T15:05:04.852" v="3" actId="27636"/>
          <ac:spMkLst>
            <pc:docMk/>
            <pc:sldMk cId="0" sldId="258"/>
            <ac:spMk id="27" creationId="{00000000-0000-0000-0000-000000000000}"/>
          </ac:spMkLst>
        </pc:spChg>
      </pc:sldChg>
      <pc:sldChg chg="modSp mod">
        <pc:chgData name="Browning, Jason R." userId="3f9d5888-a9db-4609-81e5-861ddb04d7a1" providerId="ADAL" clId="{128CAB15-798C-5CCA-8D58-7033F9BFBD4B}" dt="2026-06-23T15:05:04.857" v="4" actId="27636"/>
        <pc:sldMkLst>
          <pc:docMk/>
          <pc:sldMk cId="0" sldId="259"/>
        </pc:sldMkLst>
        <pc:spChg chg="mod">
          <ac:chgData name="Browning, Jason R." userId="3f9d5888-a9db-4609-81e5-861ddb04d7a1" providerId="ADAL" clId="{128CAB15-798C-5CCA-8D58-7033F9BFBD4B}" dt="2026-06-23T15:05:04.857" v="4" actId="27636"/>
          <ac:spMkLst>
            <pc:docMk/>
            <pc:sldMk cId="0" sldId="259"/>
            <ac:spMk id="7" creationId="{00000000-0000-0000-0000-000000000000}"/>
          </ac:spMkLst>
        </pc:spChg>
      </pc:sldChg>
      <pc:sldChg chg="modSp mod">
        <pc:chgData name="Browning, Jason R." userId="3f9d5888-a9db-4609-81e5-861ddb04d7a1" providerId="ADAL" clId="{128CAB15-798C-5CCA-8D58-7033F9BFBD4B}" dt="2026-06-23T15:05:04.862" v="6" actId="27636"/>
        <pc:sldMkLst>
          <pc:docMk/>
          <pc:sldMk cId="0" sldId="260"/>
        </pc:sldMkLst>
        <pc:spChg chg="mod">
          <ac:chgData name="Browning, Jason R." userId="3f9d5888-a9db-4609-81e5-861ddb04d7a1" providerId="ADAL" clId="{128CAB15-798C-5CCA-8D58-7033F9BFBD4B}" dt="2026-06-23T15:05:04.862" v="6" actId="27636"/>
          <ac:spMkLst>
            <pc:docMk/>
            <pc:sldMk cId="0" sldId="260"/>
            <ac:spMk id="7" creationId="{00000000-0000-0000-0000-000000000000}"/>
          </ac:spMkLst>
        </pc:spChg>
        <pc:spChg chg="mod">
          <ac:chgData name="Browning, Jason R." userId="3f9d5888-a9db-4609-81e5-861ddb04d7a1" providerId="ADAL" clId="{128CAB15-798C-5CCA-8D58-7033F9BFBD4B}" dt="2026-06-23T15:05:04.861" v="5" actId="27636"/>
          <ac:spMkLst>
            <pc:docMk/>
            <pc:sldMk cId="0" sldId="260"/>
            <ac:spMk id="24" creationId="{00000000-0000-0000-0000-000000000000}"/>
          </ac:spMkLst>
        </pc:spChg>
      </pc:sldChg>
      <pc:sldChg chg="modSp mod">
        <pc:chgData name="Browning, Jason R." userId="3f9d5888-a9db-4609-81e5-861ddb04d7a1" providerId="ADAL" clId="{128CAB15-798C-5CCA-8D58-7033F9BFBD4B}" dt="2026-06-23T15:05:04.871" v="11" actId="27636"/>
        <pc:sldMkLst>
          <pc:docMk/>
          <pc:sldMk cId="0" sldId="261"/>
        </pc:sldMkLst>
        <pc:spChg chg="mod">
          <ac:chgData name="Browning, Jason R." userId="3f9d5888-a9db-4609-81e5-861ddb04d7a1" providerId="ADAL" clId="{128CAB15-798C-5CCA-8D58-7033F9BFBD4B}" dt="2026-06-23T15:05:04.864" v="7" actId="27636"/>
          <ac:spMkLst>
            <pc:docMk/>
            <pc:sldMk cId="0" sldId="261"/>
            <ac:spMk id="7" creationId="{00000000-0000-0000-0000-000000000000}"/>
          </ac:spMkLst>
        </pc:spChg>
        <pc:spChg chg="mod">
          <ac:chgData name="Browning, Jason R." userId="3f9d5888-a9db-4609-81e5-861ddb04d7a1" providerId="ADAL" clId="{128CAB15-798C-5CCA-8D58-7033F9BFBD4B}" dt="2026-06-23T15:05:04.866" v="8" actId="2763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Browning, Jason R." userId="3f9d5888-a9db-4609-81e5-861ddb04d7a1" providerId="ADAL" clId="{128CAB15-798C-5CCA-8D58-7033F9BFBD4B}" dt="2026-06-23T15:05:04.868" v="9" actId="2763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Browning, Jason R." userId="3f9d5888-a9db-4609-81e5-861ddb04d7a1" providerId="ADAL" clId="{128CAB15-798C-5CCA-8D58-7033F9BFBD4B}" dt="2026-06-23T15:05:04.870" v="10" actId="2763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Browning, Jason R." userId="3f9d5888-a9db-4609-81e5-861ddb04d7a1" providerId="ADAL" clId="{128CAB15-798C-5CCA-8D58-7033F9BFBD4B}" dt="2026-06-23T15:05:04.871" v="11" actId="27636"/>
          <ac:spMkLst>
            <pc:docMk/>
            <pc:sldMk cId="0" sldId="261"/>
            <ac:spMk id="19" creationId="{00000000-0000-0000-0000-000000000000}"/>
          </ac:spMkLst>
        </pc:spChg>
      </pc:sldChg>
      <pc:sldChg chg="modSp mod">
        <pc:chgData name="Browning, Jason R." userId="3f9d5888-a9db-4609-81e5-861ddb04d7a1" providerId="ADAL" clId="{128CAB15-798C-5CCA-8D58-7033F9BFBD4B}" dt="2026-06-23T15:05:04.876" v="12" actId="27636"/>
        <pc:sldMkLst>
          <pc:docMk/>
          <pc:sldMk cId="0" sldId="263"/>
        </pc:sldMkLst>
        <pc:spChg chg="mod">
          <ac:chgData name="Browning, Jason R." userId="3f9d5888-a9db-4609-81e5-861ddb04d7a1" providerId="ADAL" clId="{128CAB15-798C-5CCA-8D58-7033F9BFBD4B}" dt="2026-06-23T15:05:04.876" v="12" actId="27636"/>
          <ac:spMkLst>
            <pc:docMk/>
            <pc:sldMk cId="0" sldId="263"/>
            <ac:spMk id="7" creationId="{00000000-0000-0000-0000-000000000000}"/>
          </ac:spMkLst>
        </pc:spChg>
      </pc:sldChg>
      <pc:sldChg chg="modSp mod">
        <pc:chgData name="Browning, Jason R." userId="3f9d5888-a9db-4609-81e5-861ddb04d7a1" providerId="ADAL" clId="{128CAB15-798C-5CCA-8D58-7033F9BFBD4B}" dt="2026-06-23T15:05:04.883" v="15" actId="27636"/>
        <pc:sldMkLst>
          <pc:docMk/>
          <pc:sldMk cId="0" sldId="264"/>
        </pc:sldMkLst>
        <pc:spChg chg="mod">
          <ac:chgData name="Browning, Jason R." userId="3f9d5888-a9db-4609-81e5-861ddb04d7a1" providerId="ADAL" clId="{128CAB15-798C-5CCA-8D58-7033F9BFBD4B}" dt="2026-06-23T15:05:04.878" v="13" actId="27636"/>
          <ac:spMkLst>
            <pc:docMk/>
            <pc:sldMk cId="0" sldId="264"/>
            <ac:spMk id="7" creationId="{00000000-0000-0000-0000-000000000000}"/>
          </ac:spMkLst>
        </pc:spChg>
        <pc:spChg chg="mod">
          <ac:chgData name="Browning, Jason R." userId="3f9d5888-a9db-4609-81e5-861ddb04d7a1" providerId="ADAL" clId="{128CAB15-798C-5CCA-8D58-7033F9BFBD4B}" dt="2026-06-23T15:05:04.882" v="14" actId="27636"/>
          <ac:spMkLst>
            <pc:docMk/>
            <pc:sldMk cId="0" sldId="264"/>
            <ac:spMk id="13" creationId="{00000000-0000-0000-0000-000000000000}"/>
          </ac:spMkLst>
        </pc:spChg>
        <pc:spChg chg="mod">
          <ac:chgData name="Browning, Jason R." userId="3f9d5888-a9db-4609-81e5-861ddb04d7a1" providerId="ADAL" clId="{128CAB15-798C-5CCA-8D58-7033F9BFBD4B}" dt="2026-06-23T15:05:04.883" v="15" actId="27636"/>
          <ac:spMkLst>
            <pc:docMk/>
            <pc:sldMk cId="0" sldId="264"/>
            <ac:spMk id="1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9C2BEC-9A82-4D5D-9155-7E9A9966D37B}" type="datetimeFigureOut"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25F87E-5E1B-4CE4-8741-67750E892A2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420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EF"/>
          </a:solidFill>
          <a:ln w="12700">
            <a:solidFill>
              <a:srgbClr val="F1F1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Capstone participant guide</a:t>
            </a:r>
            <a:endParaRPr lang="en-US" sz="1200"/>
          </a:p>
        </p:txBody>
      </p:sp>
      <p:sp>
        <p:nvSpPr>
          <p:cNvPr id="5" name="Text 3"/>
          <p:cNvSpPr/>
          <p:nvPr/>
        </p:nvSpPr>
        <p:spPr>
          <a:xfrm>
            <a:off x="658368" y="1828800"/>
            <a:ext cx="6583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Re-Imagining the Deal Approval Process at Nexlara Technologies</a:t>
            </a:r>
            <a:endParaRPr lang="en-US" sz="2500"/>
          </a:p>
        </p:txBody>
      </p:sp>
      <p:sp>
        <p:nvSpPr>
          <p:cNvPr id="6" name="Text 4"/>
          <p:cNvSpPr/>
          <p:nvPr/>
        </p:nvSpPr>
        <p:spPr>
          <a:xfrm>
            <a:off x="658368" y="30906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Nexlara Technologies AG  |  full-day design sprint + prototype build  |  teams of 3–5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8641080" y="9326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What teams must do today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8641080" y="1353312"/>
            <a:ext cx="2697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80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Diagnose the approval machine</a:t>
            </a: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Reimagine it from first principles</a:t>
            </a: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Show a defensible business case</a:t>
            </a:r>
            <a:endParaRPr lang="en-US" sz="1800"/>
          </a:p>
        </p:txBody>
      </p:sp>
      <p:sp>
        <p:nvSpPr>
          <p:cNvPr id="9" name="Shape 7"/>
          <p:cNvSpPr/>
          <p:nvPr/>
        </p:nvSpPr>
        <p:spPr>
          <a:xfrm>
            <a:off x="658368" y="4663440"/>
            <a:ext cx="6355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4882896"/>
            <a:ext cx="59436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115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Nexlara's deal approval process is actively costing it revenue — quotes take 9.2 days to approve, 46% are rejected on first submission, and sellers spend more time navigating approval machinery than closing customers.</a:t>
            </a:r>
            <a:endParaRPr lang="en-US" sz="1150"/>
          </a:p>
          <a:p>
            <a:pPr marL="0" indent="0">
              <a:buNone/>
            </a:pP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Teams must redesign the future-state approval process, prove the highest-value slice with a working prototype on synthetic data, and build a credible business case for the investment.</a:t>
            </a:r>
            <a:endParaRPr lang="en-US" sz="1150"/>
          </a:p>
          <a:p>
            <a:pPr marL="0" indent="0">
              <a:buNone/>
            </a:pP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The goal is not to solve everything. The goal is to focus, justify, and show measurable value.</a:t>
            </a:r>
            <a:endParaRPr lang="en-US" sz="11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1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Case overview</a:t>
            </a:r>
            <a:endParaRPr lang="en-US" sz="900"/>
          </a:p>
        </p:txBody>
      </p:sp>
      <p:sp>
        <p:nvSpPr>
          <p:cNvPr id="4" name="Shape 2"/>
          <p:cNvSpPr/>
          <p:nvPr/>
        </p:nvSpPr>
        <p:spPr>
          <a:xfrm>
            <a:off x="594360" y="6400800"/>
            <a:ext cx="110185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38428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02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What this case asks teams to solve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594360" y="129844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0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Nexlara needs a future-state approval model that accelerates revenue recognition without sacrificing compliance or seller trust.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594360" y="1847088"/>
            <a:ext cx="53035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Challenge and objective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6236208" y="1847088"/>
            <a:ext cx="53492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Hard constraints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594360" y="2103120"/>
            <a:ext cx="53949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35918" y="2103120"/>
            <a:ext cx="53949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" y="2359152"/>
            <a:ext cx="4919472" cy="33284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Nexlara's deal approval process is actively costing it revenue — quotes take 9.2 days to approve, 46% are rejected on first submission, and sellers spend more time navigating approval machinery than closing customers.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Teams must redesign the future-state approval process, prove the highest-value slice with a working prototype on synthetic data, and build a credible business case for the investment.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The goal is not to solve everything. The goal is to focus, justify, and show measurable value.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6419088" y="2359152"/>
            <a:ext cx="4919472" cy="33284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The DoA approval framework is non-negotiable for deals above defined value and risk thresholds.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D365 CPQ remains the system of record — solutions must extend it, not replace it.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Every approval, bypass, waiver, and DHI flag resolution must be fully audit-logged.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ASC 606 compliance is non-negotiable — and the current process does not enforce it.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License model transition to 80% subscription/consumption revenue is a strategic constraint.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Seller experience matters — a solution that adds seller work will not be adopted.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1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Current process</a:t>
            </a:r>
            <a:endParaRPr lang="en-US" sz="900"/>
          </a:p>
        </p:txBody>
      </p:sp>
      <p:sp>
        <p:nvSpPr>
          <p:cNvPr id="4" name="Shape 2"/>
          <p:cNvSpPr/>
          <p:nvPr/>
        </p:nvSpPr>
        <p:spPr>
          <a:xfrm>
            <a:off x="594360" y="6400800"/>
            <a:ext cx="110185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38428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03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How a deal moves through the approval machine today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594360" y="129844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0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The quote already exists in D365 CPQ — the pain begins with manual configuration and ends deep inside the black box.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3154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" y="197510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1. Opportunity creation in D365 CRM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4160520" y="1828800"/>
            <a:ext cx="3154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25112" y="197510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2. Excel pricing indication to customer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7726680" y="1828800"/>
            <a:ext cx="3154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891272" y="197510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3. Quote creation in D365 CPQ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594360" y="3154680"/>
            <a:ext cx="3154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58952" y="330098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4. BOM config (manual SKU transcription)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4160520" y="3154680"/>
            <a:ext cx="3154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25112" y="330098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5. Phasing and DHI flag handling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7726680" y="3154680"/>
            <a:ext cx="3154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91272" y="330098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6. T&amp;Cs and MCCA configuration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594360" y="4480560"/>
            <a:ext cx="3154680" cy="9144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8952" y="462686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7. Approval submission with narrative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4160520" y="4480560"/>
            <a:ext cx="3154680" cy="9144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25112" y="462686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8. Approval — the black box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7726680" y="4480560"/>
            <a:ext cx="3154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891272" y="462686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9. Rejection loop and re-submission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>
          <a:xfrm>
            <a:off x="594360" y="5687568"/>
            <a:ext cx="10954512" cy="420624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04672" y="5797296"/>
            <a:ext cx="1051560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The heaviest cost sits in steps 7–9: manual submission narratives, opaque approver decisions, and a re-submission loop that restarts every compliance check from zero each time.</a:t>
            </a:r>
            <a:endParaRPr lang="en-US" sz="10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1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People and controls</a:t>
            </a:r>
            <a:endParaRPr lang="en-US" sz="900"/>
          </a:p>
        </p:txBody>
      </p:sp>
      <p:sp>
        <p:nvSpPr>
          <p:cNvPr id="4" name="Shape 2"/>
          <p:cNvSpPr/>
          <p:nvPr/>
        </p:nvSpPr>
        <p:spPr>
          <a:xfrm>
            <a:off x="594360" y="6400800"/>
            <a:ext cx="110185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38428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04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Who matters in the operating model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594360" y="129844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0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Your design has to respect both the Delegation of Authority framework and the daily reality of the selling teams.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594360" y="1847088"/>
            <a:ext cx="53035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Stakeholders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6236208" y="1847088"/>
            <a:ext cx="53492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Design guardrails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594360" y="2103120"/>
            <a:ext cx="53949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99632" y="2103120"/>
            <a:ext cx="53949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" y="2359152"/>
            <a:ext cx="4919472" cy="33284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Account Executives own the customer relationship, create and submit quotes, and are ultimately accountable for closing the deal.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Field Business Support assists AEs on complex deals — pricing calculations, T&amp;C guidance, and submission preparation.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Contract Renewal Executives manage active renewal negotiation, extension, and churn prevention.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First Approvers review all quote risks and commercial completeness — one approver per market unit.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GCF Managers orchestrate the commercial finance function and own escalations across the market unit.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6419088" y="2359152"/>
            <a:ext cx="4919472" cy="33284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The DoA approval framework is non-negotiable for deals above defined value and risk thresholds.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D365 CPQ remains the system of record — solutions must extend it, not replace it.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Every approval, bypass, waiver, and DHI flag resolution must be fully audit-logged.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ASC 606 compliance is non-negotiable — and the current process does not enforce it.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License model transition to 80% subscription/consumption revenue is a strategic constraint.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Seller experience matters — a solution that adds seller work will not be adopted.</a:t>
            </a:r>
            <a:endParaRPr 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1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Data and pain points</a:t>
            </a:r>
            <a:endParaRPr lang="en-US" sz="900"/>
          </a:p>
        </p:txBody>
      </p:sp>
      <p:sp>
        <p:nvSpPr>
          <p:cNvPr id="4" name="Shape 2"/>
          <p:cNvSpPr/>
          <p:nvPr/>
        </p:nvSpPr>
        <p:spPr>
          <a:xfrm>
            <a:off x="594360" y="6400800"/>
            <a:ext cx="110185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38428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05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Why the deal approval process is hard to fix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594360" y="129844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0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The same deal fact can live in CPQ, a spreadsheet, an email thread, and an approver's memory at the same time.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594360" y="1847088"/>
            <a:ext cx="2331720" cy="18288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" y="1993392"/>
            <a:ext cx="2002536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D365 CPQ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758952" y="2286000"/>
            <a:ext cx="2002536" cy="12618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System of record for quotes, BOM configuration, DHI flags, approval workflows, and contract generation.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3520440" y="1847088"/>
            <a:ext cx="2331720" cy="18288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85032" y="1993392"/>
            <a:ext cx="2002536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D365 CRM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3685032" y="2286000"/>
            <a:ext cx="2002536" cy="12618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Opportunity pipeline, account history, customer 360 data, forecasting, and deal motion tracking.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6446520" y="1847088"/>
            <a:ext cx="2331720" cy="18288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11112" y="1993392"/>
            <a:ext cx="2002536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Supporting tools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6611112" y="2286000"/>
            <a:ext cx="2002536" cy="12618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Pricing App, Deal Modelling Tool, AskQ2C, and ServiceNow tickets — each living outside D365 CPQ.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9372600" y="1847088"/>
            <a:ext cx="2331720" cy="18288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537192" y="1993392"/>
            <a:ext cx="2002536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Communications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9537192" y="2286000"/>
            <a:ext cx="2002536" cy="12618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Email, Teams, and offline conversations carry approval decisions, exceptions, and deal context informally.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594360" y="4069080"/>
            <a:ext cx="541324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90488" y="4069080"/>
            <a:ext cx="540410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04672" y="4261104"/>
            <a:ext cx="219456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Primary pain points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6400800" y="4261104"/>
            <a:ext cx="25603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What this means for teams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804672" y="4535424"/>
            <a:ext cx="4846320" cy="11521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2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AEs manually transcribe SKUs from Excel into D365 CPQ — errors are common and only caught at submission.</a:t>
            </a:r>
            <a:endParaRPr lang="en-US" sz="1120"/>
          </a:p>
          <a:p>
            <a:pPr marL="0" indent="0">
              <a:buNone/>
            </a:pPr>
            <a:r>
              <a:rPr lang="en-US" sz="112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DHI flags are verbose, jargon-heavy, and provide no resolution guidance — AEs decode them alone.</a:t>
            </a:r>
            <a:endParaRPr lang="en-US" sz="1120"/>
          </a:p>
          <a:p>
            <a:pPr marL="0" indent="0">
              <a:buNone/>
            </a:pPr>
            <a:r>
              <a:rPr lang="en-US" sz="112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The approval process is a black box — no visibility into queue position, wait time, or likely outcome.</a:t>
            </a:r>
            <a:endParaRPr lang="en-US" sz="1120"/>
          </a:p>
          <a:p>
            <a:pPr marL="0" indent="0">
              <a:buNone/>
            </a:pPr>
            <a:r>
              <a:rPr lang="en-US" sz="112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Any quote modification after submission restarts all compliance checks and resets the approval clock.</a:t>
            </a:r>
            <a:endParaRPr lang="en-US" sz="1120"/>
          </a:p>
        </p:txBody>
      </p:sp>
      <p:sp>
        <p:nvSpPr>
          <p:cNvPr id="25" name="Text 23"/>
          <p:cNvSpPr/>
          <p:nvPr/>
        </p:nvSpPr>
        <p:spPr>
          <a:xfrm>
            <a:off x="6400800" y="4553712"/>
            <a:ext cx="493776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14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Sellers re-encounter the same rejection reasons, re-configure familiar deal shapes without guidance, and lose time every time a late change forces a full re-run through all compliance checks.</a:t>
            </a:r>
            <a:endParaRPr lang="en-US" sz="114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1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Value case</a:t>
            </a:r>
            <a:endParaRPr lang="en-US" sz="900"/>
          </a:p>
        </p:txBody>
      </p:sp>
      <p:sp>
        <p:nvSpPr>
          <p:cNvPr id="4" name="Shape 2"/>
          <p:cNvSpPr/>
          <p:nvPr/>
        </p:nvSpPr>
        <p:spPr>
          <a:xfrm>
            <a:off x="594360" y="6400800"/>
            <a:ext cx="110185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38428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06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What success must look like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594360" y="129844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0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The business case depends on hard KPI improvement and which growth lever — net new, upsell, or renewals — the solution most directly enables.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594360" y="1847088"/>
            <a:ext cx="2743200" cy="1024128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" y="1993392"/>
            <a:ext cx="2414016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Revenue recovery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758952" y="2286000"/>
            <a:ext cx="2414016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ARR lost to approval delays: ~€25M today → &lt;€5M target. Renewal churn (ACV): 4.1% → &lt;1.5%.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3547872" y="1847088"/>
            <a:ext cx="2743200" cy="1024128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12464" y="1993392"/>
            <a:ext cx="2414016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Speed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3712464" y="2286000"/>
            <a:ext cx="2414016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Quote-to-approval cycle: 9.2 days → 4.0 days. Median re-submissions per quote: 1.8 → 0.5.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6501384" y="1847088"/>
            <a:ext cx="2514600" cy="1024128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65976" y="1993392"/>
            <a:ext cx="2185416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Quality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6665976" y="2286000"/>
            <a:ext cx="2185416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First-pass approval rate: 54% → 80%. Approval bypass rate: 3.4% → &lt;1%.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9226296" y="1847088"/>
            <a:ext cx="2368296" cy="1024128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390888" y="1993392"/>
            <a:ext cx="2039112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Automation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9390888" y="2286000"/>
            <a:ext cx="2039112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Auto-approval rate: 12% → 35%. AE admin time per deal: 6.4 → 2.5 hrs.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594360" y="3273552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99632" y="3273552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04672" y="3456432"/>
            <a:ext cx="137160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Growth context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6419088" y="3456432"/>
            <a:ext cx="219456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Implication for solution design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804672" y="3694176"/>
            <a:ext cx="4846320" cy="18470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13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€620M ARR across DACH (largest), North America, Benelux, Nordics, and ANZ.</a:t>
            </a:r>
            <a:endParaRPr lang="en-US" sz="1130"/>
          </a:p>
          <a:p>
            <a:pPr marL="0" indent="0">
              <a:buNone/>
            </a:pPr>
            <a:r>
              <a:rPr lang="en-US" sz="113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FY2025 target: €730M ARR (+18%); €110M incremental ARR to win across net new, upsell, and renewals.</a:t>
            </a:r>
            <a:endParaRPr lang="en-US" sz="1130"/>
          </a:p>
          <a:p>
            <a:pPr marL="0" indent="0">
              <a:buNone/>
            </a:pPr>
            <a:r>
              <a:rPr lang="en-US" sz="113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Approximately €25M ARR lost annually to approval delays and renewal process friction.</a:t>
            </a:r>
            <a:endParaRPr lang="en-US" sz="1130"/>
          </a:p>
          <a:p>
            <a:pPr marL="0" indent="0">
              <a:buNone/>
            </a:pPr>
            <a:r>
              <a:rPr lang="en-US" sz="113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- 38% of deals close in the final 3 days of each fiscal quarter — driving approval queue congestion.</a:t>
            </a:r>
            <a:endParaRPr lang="en-US" sz="1130"/>
          </a:p>
        </p:txBody>
      </p:sp>
      <p:sp>
        <p:nvSpPr>
          <p:cNvPr id="25" name="Text 23"/>
          <p:cNvSpPr/>
          <p:nvPr/>
        </p:nvSpPr>
        <p:spPr>
          <a:xfrm>
            <a:off x="6419088" y="3712464"/>
            <a:ext cx="4892040" cy="1783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14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Solutions that reduce first-pass rejection rates and approval cycle time create the largest early payoff across all three growth levers. The €25M ARR recovery opportunity makes a standalone renewals focus viable — but the value curve is steepest when the core approval engine improves for all deal motions.</a:t>
            </a:r>
            <a:endParaRPr lang="en-US" sz="114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1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Context</a:t>
            </a:r>
            <a:endParaRPr lang="en-US" sz="900"/>
          </a:p>
        </p:txBody>
      </p:sp>
      <p:sp>
        <p:nvSpPr>
          <p:cNvPr id="4" name="Shape 2"/>
          <p:cNvSpPr/>
          <p:nvPr/>
        </p:nvSpPr>
        <p:spPr>
          <a:xfrm>
            <a:off x="594360" y="6400800"/>
            <a:ext cx="110185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38428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07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What teams must account for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594360" y="129844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The technology context shapes what is buildable — and the KPI targets define what is valuable.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594360" y="1847088"/>
            <a:ext cx="53035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Data inputs and sources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6236208" y="1847088"/>
            <a:ext cx="53492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Critical KPI targets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594360" y="2103120"/>
            <a:ext cx="53949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99632" y="2103120"/>
            <a:ext cx="53949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" y="2359152"/>
            <a:ext cx="4919472" cy="33284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D365 CPQ: quotes, BOM line items, DHI flags, approval event logs, and contract data.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D365 CRM: opportunity pipeline, account history, forecasting, and customer 360 data.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Supporting tools: Pricing App (SKU rates), Deal Modelling Tool, AskQ2C, and ServiceNow tickets.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Communications: email, Teams, informal offline approval conversations, and verbal CFO commitments.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6419088" y="2359152"/>
            <a:ext cx="4919472" cy="33284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Quote-to-approval cycle time: 9.2 → 4.0 days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First-pass approval rate: 54% → 80%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Median re-submissions per quote: 1.8 → 0.5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Auto-approval rate: 12% → 35%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AE time on quote admin: 6.4 → 2.5 hrs per deal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FBS cost per quote: €380 → €150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ARR lost to approval delays: ~€25M → &lt;€5M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Renewal churn rate (ACV): 4.1% → &lt;1.5%</a:t>
            </a:r>
            <a:endParaRPr lang="en-US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1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Team mission</a:t>
            </a:r>
            <a:endParaRPr lang="en-US" sz="900"/>
          </a:p>
        </p:txBody>
      </p:sp>
      <p:sp>
        <p:nvSpPr>
          <p:cNvPr id="4" name="Shape 2"/>
          <p:cNvSpPr/>
          <p:nvPr/>
        </p:nvSpPr>
        <p:spPr>
          <a:xfrm>
            <a:off x="594360" y="6400800"/>
            <a:ext cx="110185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38428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08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Where teams should focus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594360" y="129844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0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Pick one or two directions, prove them on synthetic data, and show how the full future state scales from there.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594360" y="1901952"/>
            <a:ext cx="3657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62272" y="1901952"/>
            <a:ext cx="3657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330184" y="1901952"/>
            <a:ext cx="326440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4672" y="2194560"/>
            <a:ext cx="3236976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300" b="1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Intelligent quote preparation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4681728" y="2194560"/>
            <a:ext cx="3236976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300" b="1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Approval process reimagination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8540496" y="2048256"/>
            <a:ext cx="2852928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Renewal churn recovery</a:t>
            </a:r>
            <a:endParaRPr lang="en-US" sz="1200"/>
          </a:p>
          <a:p>
            <a:pPr marL="0" indent="0">
              <a:buNone/>
            </a:pPr>
            <a:r>
              <a:rPr lang="en-US" sz="1200" b="1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Deal health automation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594360" y="3182112"/>
            <a:ext cx="5394960" cy="2578608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99632" y="3182112"/>
            <a:ext cx="5394960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" y="3401568"/>
            <a:ext cx="20116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Prototype expectations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804672" y="3657600"/>
            <a:ext cx="489204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11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Demonstrate the redesigned slice with runnable code, a notebook, or a simple UI on synthetic data.</a:t>
            </a:r>
            <a:endParaRPr lang="en-US" sz="1110"/>
          </a:p>
          <a:p>
            <a:pPr marL="0" indent="0">
              <a:buNone/>
            </a:pPr>
            <a:r>
              <a:rPr lang="en-US" sz="111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Show low-confidence handling, escalation paths, and where humans remain in the approval loop.</a:t>
            </a:r>
            <a:endParaRPr lang="en-US" sz="1110"/>
          </a:p>
          <a:p>
            <a:pPr marL="0" indent="0">
              <a:buNone/>
            </a:pPr>
            <a:r>
              <a:rPr lang="en-US" sz="111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Prototype must be demonstratable to at least one Nexlara persona during the day.</a:t>
            </a:r>
            <a:endParaRPr lang="en-US" sz="1110"/>
          </a:p>
          <a:p>
            <a:pPr marL="0" indent="0">
              <a:buNone/>
            </a:pPr>
            <a:r>
              <a:rPr lang="en-US" sz="111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Explain how the architecture integrates with D365 CPQ and CRM — and can extend to full pipeline coverage.</a:t>
            </a:r>
            <a:endParaRPr lang="en-US" sz="1110"/>
          </a:p>
        </p:txBody>
      </p:sp>
      <p:sp>
        <p:nvSpPr>
          <p:cNvPr id="18" name="Text 16"/>
          <p:cNvSpPr/>
          <p:nvPr/>
        </p:nvSpPr>
        <p:spPr>
          <a:xfrm>
            <a:off x="6419088" y="3401568"/>
            <a:ext cx="20116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Business case checklist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6419088" y="3657600"/>
            <a:ext cx="489204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11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One-off build cost and D365 integration effort</a:t>
            </a:r>
            <a:endParaRPr lang="en-US" sz="1110"/>
          </a:p>
          <a:p>
            <a:pPr marL="0" indent="0">
              <a:buNone/>
            </a:pPr>
            <a:r>
              <a:rPr lang="en-US" sz="111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Ongoing run cost per deal at current and scaled ARR</a:t>
            </a:r>
            <a:endParaRPr lang="en-US" sz="1110"/>
          </a:p>
          <a:p>
            <a:pPr marL="0" indent="0">
              <a:buNone/>
            </a:pPr>
            <a:r>
              <a:rPr lang="en-US" sz="111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Value delivered against the KPI targets — displacement vs. augmentation</a:t>
            </a:r>
            <a:endParaRPr lang="en-US" sz="1110"/>
          </a:p>
          <a:p>
            <a:pPr marL="0" indent="0">
              <a:buNone/>
            </a:pPr>
            <a:r>
              <a:rPr lang="en-US" sz="111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Payback timing, phased rollout, and a 60% value-capture downside case</a:t>
            </a:r>
            <a:endParaRPr lang="en-US" sz="111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1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Outputs</a:t>
            </a:r>
            <a:endParaRPr lang="en-US" sz="900"/>
          </a:p>
        </p:txBody>
      </p:sp>
      <p:sp>
        <p:nvSpPr>
          <p:cNvPr id="4" name="Shape 2"/>
          <p:cNvSpPr/>
          <p:nvPr/>
        </p:nvSpPr>
        <p:spPr>
          <a:xfrm>
            <a:off x="594360" y="6400800"/>
            <a:ext cx="110185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38428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09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What teams hand in by the end of the day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594360" y="129844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0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The pitch deck is only one part of the submission. The full package must show diagnosis, design, proof, and value.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5486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36208" y="1828800"/>
            <a:ext cx="5358384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4672" y="2029968"/>
            <a:ext cx="21031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Required deliverables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6437376" y="2029968"/>
            <a:ext cx="173736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Appendix A data pack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804672" y="2286000"/>
            <a:ext cx="4983480" cy="3291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13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Current-state diagnosis: what is broken, where it costs, and your prioritisation rationale</a:t>
            </a:r>
            <a:endParaRPr lang="en-US" sz="1130"/>
          </a:p>
          <a:p>
            <a:pPr marL="0" indent="0">
              <a:buNone/>
            </a:pPr>
            <a:r>
              <a:rPr lang="en-US" sz="113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Future-state process design: swim-lane or narrative with DoA tiers and auto-approval triggers</a:t>
            </a:r>
            <a:endParaRPr lang="en-US" sz="1130"/>
          </a:p>
          <a:p>
            <a:pPr marL="0" indent="0">
              <a:buNone/>
            </a:pPr>
            <a:r>
              <a:rPr lang="en-US" sz="113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Agentic architecture: diagram + narrative with D365 integrations and HITL touchpoints</a:t>
            </a:r>
            <a:endParaRPr lang="en-US" sz="1130"/>
          </a:p>
          <a:p>
            <a:pPr marL="0" indent="0">
              <a:buNone/>
            </a:pPr>
            <a:r>
              <a:rPr lang="en-US" sz="113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Working prototype on provided synthetic datasets — demonstratable to at least one persona</a:t>
            </a:r>
            <a:endParaRPr lang="en-US" sz="1130"/>
          </a:p>
          <a:p>
            <a:pPr marL="0" indent="0">
              <a:buNone/>
            </a:pPr>
            <a:r>
              <a:rPr lang="en-US" sz="113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Adoption, change, and workforce transition plan including FBS workforce impact</a:t>
            </a:r>
            <a:endParaRPr lang="en-US" sz="1130"/>
          </a:p>
          <a:p>
            <a:pPr marL="0" indent="0">
              <a:buNone/>
            </a:pPr>
            <a:r>
              <a:rPr lang="en-US" sz="113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Business case: build cost, run cost, value delivered, payback, and risk-adjusted view</a:t>
            </a:r>
            <a:endParaRPr lang="en-US" sz="1130"/>
          </a:p>
          <a:p>
            <a:pPr marL="0" indent="0">
              <a:buNone/>
            </a:pPr>
            <a:r>
              <a:rPr lang="en-US" sz="113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Five- to seven-slide pitch deck</a:t>
            </a:r>
            <a:endParaRPr lang="en-US" sz="1130"/>
          </a:p>
        </p:txBody>
      </p:sp>
      <p:sp>
        <p:nvSpPr>
          <p:cNvPr id="13" name="Text 11"/>
          <p:cNvSpPr/>
          <p:nvPr/>
        </p:nvSpPr>
        <p:spPr>
          <a:xfrm>
            <a:off x="6437376" y="2286000"/>
            <a:ext cx="484632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8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opportunity_pipeline.csv — 120 open opportunities across deal motions, geographies, and segments</a:t>
            </a:r>
            <a:endParaRPr lang="en-US" sz="1080"/>
          </a:p>
          <a:p>
            <a:pPr marL="0" indent="0">
              <a:buNone/>
            </a:pPr>
            <a:r>
              <a:rPr lang="en-US" sz="108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quote_header.csv — 85 quotes with status, approval outcomes, rejection reasons, and ML scores</a:t>
            </a:r>
            <a:endParaRPr lang="en-US" sz="1080"/>
          </a:p>
          <a:p>
            <a:pPr marL="0" indent="0">
              <a:buNone/>
            </a:pPr>
            <a:r>
              <a:rPr lang="en-US" sz="108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bom_line_items.csv — ~640 BOM line items with pricing, LEP compliance, and auto-attach flags</a:t>
            </a:r>
            <a:endParaRPr lang="en-US" sz="1080"/>
          </a:p>
          <a:p>
            <a:pPr marL="0" indent="0">
              <a:buNone/>
            </a:pPr>
            <a:r>
              <a:rPr lang="en-US" sz="108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dhi_flags.csv — ~180 DHI flag instances with codes, severity, status, and approver comments</a:t>
            </a:r>
            <a:endParaRPr lang="en-US" sz="1080"/>
          </a:p>
          <a:p>
            <a:pPr marL="0" indent="0">
              <a:buNone/>
            </a:pPr>
            <a:r>
              <a:rPr lang="en-US" sz="108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approval_events.csv — ~310 approval event log entries with timestamps and actor roles</a:t>
            </a:r>
            <a:endParaRPr lang="en-US" sz="1080"/>
          </a:p>
          <a:p>
            <a:pPr marL="0" indent="0">
              <a:buNone/>
            </a:pPr>
            <a:r>
              <a:rPr lang="en-US" sz="108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renewal_risk_signals.csv — 48 renewal accounts with churn risk, NPS, and CRE engagement data</a:t>
            </a:r>
            <a:endParaRPr lang="en-US" sz="1080"/>
          </a:p>
          <a:p>
            <a:pPr marL="0" indent="0">
              <a:buNone/>
            </a:pPr>
            <a:r>
              <a:rPr lang="en-US" sz="108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sku_catalogue.csv — 68 SKUs with pricing, LEP, lifecycle status, and license model classification</a:t>
            </a:r>
            <a:endParaRPr lang="en-US" sz="1080"/>
          </a:p>
          <a:p>
            <a:pPr marL="0" indent="0">
              <a:buNone/>
            </a:pPr>
            <a:r>
              <a:rPr lang="en-US" sz="108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kpi_benchmarks.csv — internal and industry benchmarks for key commercial metrics</a:t>
            </a:r>
            <a:endParaRPr lang="en-US" sz="1080"/>
          </a:p>
        </p:txBody>
      </p:sp>
      <p:sp>
        <p:nvSpPr>
          <p:cNvPr id="14" name="Text 12"/>
          <p:cNvSpPr/>
          <p:nvPr/>
        </p:nvSpPr>
        <p:spPr>
          <a:xfrm>
            <a:off x="6437376" y="4133088"/>
            <a:ext cx="146304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Guiding questions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6437376" y="4389120"/>
            <a:ext cx="4846320" cy="12070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8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Which single failure point releases the most revenue per euro of investment?</a:t>
            </a:r>
            <a:endParaRPr lang="en-US" sz="1080"/>
          </a:p>
          <a:p>
            <a:pPr marL="0" indent="0">
              <a:buNone/>
            </a:pPr>
            <a:r>
              <a:rPr lang="en-US" sz="108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Under what conditions should a deal be approvable with zero human involvement?</a:t>
            </a:r>
            <a:endParaRPr lang="en-US" sz="1080"/>
          </a:p>
          <a:p>
            <a:pPr marL="0" indent="0">
              <a:buNone/>
            </a:pPr>
            <a:r>
              <a:rPr lang="en-US" sz="108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How does your design behave at quarter-end — when volume spikes and patience is short?</a:t>
            </a:r>
            <a:endParaRPr lang="en-US" sz="1080"/>
          </a:p>
          <a:p>
            <a:pPr marL="0" indent="0">
              <a:buNone/>
            </a:pPr>
            <a:r>
              <a:rPr lang="en-US" sz="108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How does the license model shift from perpetual to subscription change what you must build?</a:t>
            </a:r>
            <a:endParaRPr lang="en-US" sz="108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5DC711A8772A4887DC886F877F80DA" ma:contentTypeVersion="3" ma:contentTypeDescription="Create a new document." ma:contentTypeScope="" ma:versionID="aa35048a36657f3c02b4a539d780db86">
  <xsd:schema xmlns:xsd="http://www.w3.org/2001/XMLSchema" xmlns:xs="http://www.w3.org/2001/XMLSchema" xmlns:p="http://schemas.microsoft.com/office/2006/metadata/properties" xmlns:ns2="e70426fb-1f8c-4951-af8e-a608f79db03b" targetNamespace="http://schemas.microsoft.com/office/2006/metadata/properties" ma:root="true" ma:fieldsID="c3b994e814e4498abc3fd999dcd412fc" ns2:_="">
    <xsd:import namespace="e70426fb-1f8c-4951-af8e-a608f79db03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0426fb-1f8c-4951-af8e-a608f79db0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BC0963B-D614-4CC1-8708-7D0EC31D1F5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5AEF0A-819B-4D62-9D59-3BC1A537A6F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8B86D56-DAD6-4791-A3C4-D95CA0951822}">
  <ds:schemaRefs>
    <ds:schemaRef ds:uri="e70426fb-1f8c-4951-af8e-a608f79db03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Accenture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participant guide</dc:title>
  <dc:subject>Participant guide deck for the Nexlara deal approval capstone</dc:subject>
  <dc:creator>GitHub Copilot</dc:creator>
  <cp:revision>1</cp:revision>
  <dcterms:created xsi:type="dcterms:W3CDTF">2026-06-18T00:14:01Z</dcterms:created>
  <dcterms:modified xsi:type="dcterms:W3CDTF">2026-06-23T18:06:14Z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0x0101004F5DC711A8772A4887DC886F877F80DA</vt:lpwstr>
  </property>
</Properties>
</file>