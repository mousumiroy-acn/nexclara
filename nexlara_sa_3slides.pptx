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E4786-C35D-8E97-590A-2001CDFFF355}" v="2" dt="2026-06-24T16:05:11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o, Kelly" userId="S::kelly.ngo@accenture.com::ed38ffa5-d3d7-4ad7-9012-5ef2ad27f979" providerId="AD" clId="Web-{5A0E4786-C35D-8E97-590A-2001CDFFF355}"/>
    <pc:docChg chg="modSld">
      <pc:chgData name="Ngo, Kelly" userId="S::kelly.ngo@accenture.com::ed38ffa5-d3d7-4ad7-9012-5ef2ad27f979" providerId="AD" clId="Web-{5A0E4786-C35D-8E97-590A-2001CDFFF355}" dt="2026-06-24T16:05:11.882" v="1" actId="1076"/>
      <pc:docMkLst>
        <pc:docMk/>
      </pc:docMkLst>
      <pc:sldChg chg="modSp">
        <pc:chgData name="Ngo, Kelly" userId="S::kelly.ngo@accenture.com::ed38ffa5-d3d7-4ad7-9012-5ef2ad27f979" providerId="AD" clId="Web-{5A0E4786-C35D-8E97-590A-2001CDFFF355}" dt="2026-06-24T16:05:11.882" v="1" actId="1076"/>
        <pc:sldMkLst>
          <pc:docMk/>
          <pc:sldMk cId="0" sldId="257"/>
        </pc:sldMkLst>
        <pc:spChg chg="mod">
          <ac:chgData name="Ngo, Kelly" userId="S::kelly.ngo@accenture.com::ed38ffa5-d3d7-4ad7-9012-5ef2ad27f979" providerId="AD" clId="Web-{5A0E4786-C35D-8E97-590A-2001CDFFF355}" dt="2026-06-24T16:05:11.882" v="1" actId="1076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79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4695230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2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PROCESS TRANSFORMATION</a:t>
            </a:r>
            <a:endParaRPr lang="en-US" sz="500" dirty="0"/>
          </a:p>
        </p:txBody>
      </p:sp>
      <p:sp>
        <p:nvSpPr>
          <p:cNvPr id="4" name="Text 1"/>
          <p:cNvSpPr/>
          <p:nvPr/>
        </p:nvSpPr>
        <p:spPr>
          <a:xfrm>
            <a:off x="342900" y="380405"/>
            <a:ext cx="4695230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State vs. Future State — Deal Approval Flow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14350" y="746159"/>
            <a:ext cx="939403" cy="171450"/>
          </a:xfrm>
          <a:prstGeom prst="rect">
            <a:avLst/>
          </a:prstGeom>
          <a:solidFill>
            <a:srgbClr val="FFF0F0"/>
          </a:solidFill>
          <a:ln w="9144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792593"/>
            <a:ext cx="75009" cy="642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3659" y="781878"/>
            <a:ext cx="65008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CURRENT STATE</a:t>
            </a:r>
            <a:endParaRPr lang="en-US" sz="450" dirty="0"/>
          </a:p>
        </p:txBody>
      </p:sp>
      <p:sp>
        <p:nvSpPr>
          <p:cNvPr id="8" name="Text 4"/>
          <p:cNvSpPr/>
          <p:nvPr/>
        </p:nvSpPr>
        <p:spPr>
          <a:xfrm>
            <a:off x="1510903" y="777413"/>
            <a:ext cx="1371600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Cycle: </a:t>
            </a:r>
            <a:r>
              <a:rPr lang="en-US" sz="500" b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9.2 days</a:t>
            </a:r>
            <a:r>
              <a:rPr lang="en-US" sz="50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Rejection: </a:t>
            </a:r>
            <a:r>
              <a:rPr lang="en-US" sz="500" b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46%</a:t>
            </a:r>
            <a:endParaRPr lang="en-US" sz="500" dirty="0"/>
          </a:p>
        </p:txBody>
      </p:sp>
      <p:sp>
        <p:nvSpPr>
          <p:cNvPr id="9" name="Shape 5"/>
          <p:cNvSpPr/>
          <p:nvPr/>
        </p:nvSpPr>
        <p:spPr>
          <a:xfrm>
            <a:off x="514350" y="989047"/>
            <a:ext cx="3871913" cy="345021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0075" y="1046197"/>
            <a:ext cx="157163" cy="157163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0075" y="104619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500" dirty="0"/>
          </a:p>
        </p:txBody>
      </p:sp>
      <p:sp>
        <p:nvSpPr>
          <p:cNvPr id="12" name="Text 8"/>
          <p:cNvSpPr/>
          <p:nvPr/>
        </p:nvSpPr>
        <p:spPr>
          <a:xfrm>
            <a:off x="828675" y="1046197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AE configures quote in D365 CPQ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828675" y="1162617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guidance, no validation, no visibility into compliance</a:t>
            </a:r>
            <a:endParaRPr lang="en-US" sz="500" dirty="0"/>
          </a:p>
        </p:txBody>
      </p:sp>
      <p:sp>
        <p:nvSpPr>
          <p:cNvPr id="14" name="Shape 10"/>
          <p:cNvSpPr/>
          <p:nvPr/>
        </p:nvSpPr>
        <p:spPr>
          <a:xfrm>
            <a:off x="514350" y="1362642"/>
            <a:ext cx="3871913" cy="345021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0075" y="1419792"/>
            <a:ext cx="157163" cy="157163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00075" y="141979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828675" y="1419792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AE submits for approval (blind)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828675" y="1536213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ML score, no DHI preview — submitting into a black box</a:t>
            </a:r>
            <a:endParaRPr lang="en-US" sz="500" dirty="0"/>
          </a:p>
        </p:txBody>
      </p:sp>
      <p:sp>
        <p:nvSpPr>
          <p:cNvPr id="19" name="Shape 15"/>
          <p:cNvSpPr/>
          <p:nvPr/>
        </p:nvSpPr>
        <p:spPr>
          <a:xfrm>
            <a:off x="514350" y="1736238"/>
            <a:ext cx="3871913" cy="345021"/>
          </a:xfrm>
          <a:prstGeom prst="rect">
            <a:avLst/>
          </a:prstGeom>
          <a:solidFill>
            <a:srgbClr val="FFF8F8"/>
          </a:solidFill>
          <a:ln w="9144">
            <a:solidFill>
              <a:srgbClr val="FF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00075" y="1793388"/>
            <a:ext cx="157163" cy="157163"/>
          </a:xfrm>
          <a:prstGeom prst="rect">
            <a:avLst/>
          </a:prstGeom>
          <a:solidFill>
            <a:srgbClr val="FFEEEE"/>
          </a:solidFill>
          <a:ln w="9144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00075" y="179338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500" dirty="0"/>
          </a:p>
        </p:txBody>
      </p:sp>
      <p:sp>
        <p:nvSpPr>
          <p:cNvPr id="22" name="Text 18"/>
          <p:cNvSpPr/>
          <p:nvPr/>
        </p:nvSpPr>
        <p:spPr>
          <a:xfrm>
            <a:off x="828675" y="1795174"/>
            <a:ext cx="122158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Post-submission validation fires</a:t>
            </a:r>
            <a:endParaRPr lang="en-US" sz="5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8831" y="1816605"/>
            <a:ext cx="64294" cy="642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8675" y="1909809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run AFTER submission — too late to fix inline</a:t>
            </a:r>
            <a:endParaRPr lang="en-US" sz="500" dirty="0"/>
          </a:p>
        </p:txBody>
      </p:sp>
      <p:sp>
        <p:nvSpPr>
          <p:cNvPr id="25" name="Shape 20"/>
          <p:cNvSpPr/>
          <p:nvPr/>
        </p:nvSpPr>
        <p:spPr>
          <a:xfrm>
            <a:off x="514350" y="2109834"/>
            <a:ext cx="3871913" cy="345021"/>
          </a:xfrm>
          <a:prstGeom prst="rect">
            <a:avLst/>
          </a:prstGeom>
          <a:solidFill>
            <a:srgbClr val="FFF8F8"/>
          </a:solidFill>
          <a:ln w="9144">
            <a:solidFill>
              <a:srgbClr val="FF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00075" y="2166984"/>
            <a:ext cx="157163" cy="157163"/>
          </a:xfrm>
          <a:prstGeom prst="rect">
            <a:avLst/>
          </a:prstGeom>
          <a:solidFill>
            <a:srgbClr val="FFEEEE"/>
          </a:solidFill>
          <a:ln w="9144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00075" y="21669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828675" y="2168770"/>
            <a:ext cx="144125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46% rejected with cryptic error codes</a:t>
            </a:r>
            <a:endParaRPr lang="en-US" sz="5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502" y="2190201"/>
            <a:ext cx="64294" cy="6429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8675" y="2283405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codes, no plain-language guidance, no fix suggestions</a:t>
            </a:r>
            <a:endParaRPr lang="en-US" sz="500" dirty="0"/>
          </a:p>
        </p:txBody>
      </p:sp>
      <p:sp>
        <p:nvSpPr>
          <p:cNvPr id="31" name="Shape 25"/>
          <p:cNvSpPr/>
          <p:nvPr/>
        </p:nvSpPr>
        <p:spPr>
          <a:xfrm>
            <a:off x="514350" y="2483430"/>
            <a:ext cx="3871913" cy="345021"/>
          </a:xfrm>
          <a:prstGeom prst="rect">
            <a:avLst/>
          </a:prstGeom>
          <a:solidFill>
            <a:srgbClr val="FFF8F8"/>
          </a:solidFill>
          <a:ln w="9144">
            <a:solidFill>
              <a:srgbClr val="FF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00075" y="2540580"/>
            <a:ext cx="157163" cy="157163"/>
          </a:xfrm>
          <a:prstGeom prst="rect">
            <a:avLst/>
          </a:prstGeom>
          <a:solidFill>
            <a:srgbClr val="FFEEEE"/>
          </a:solidFill>
          <a:ln w="9144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00075" y="254058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500" dirty="0"/>
          </a:p>
        </p:txBody>
      </p:sp>
      <p:sp>
        <p:nvSpPr>
          <p:cNvPr id="34" name="Text 28"/>
          <p:cNvSpPr/>
          <p:nvPr/>
        </p:nvSpPr>
        <p:spPr>
          <a:xfrm>
            <a:off x="828675" y="2542366"/>
            <a:ext cx="12715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ServiceNow ticket for SKU issues</a:t>
            </a:r>
            <a:endParaRPr lang="en-US" sz="5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8838" y="2563797"/>
            <a:ext cx="64294" cy="6429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8675" y="2657001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ticket, 2–5 day wait, separate system entirely</a:t>
            </a:r>
            <a:endParaRPr lang="en-US" sz="500" dirty="0"/>
          </a:p>
        </p:txBody>
      </p:sp>
      <p:sp>
        <p:nvSpPr>
          <p:cNvPr id="37" name="Shape 30"/>
          <p:cNvSpPr/>
          <p:nvPr/>
        </p:nvSpPr>
        <p:spPr>
          <a:xfrm>
            <a:off x="514350" y="2857026"/>
            <a:ext cx="3871913" cy="345021"/>
          </a:xfrm>
          <a:prstGeom prst="rect">
            <a:avLst/>
          </a:prstGeom>
          <a:solidFill>
            <a:srgbClr val="FFF8F8"/>
          </a:solidFill>
          <a:ln w="9144">
            <a:solidFill>
              <a:srgbClr val="FF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00075" y="2914176"/>
            <a:ext cx="157163" cy="157163"/>
          </a:xfrm>
          <a:prstGeom prst="rect">
            <a:avLst/>
          </a:prstGeom>
          <a:solidFill>
            <a:srgbClr val="FFEEEE"/>
          </a:solidFill>
          <a:ln w="9144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600075" y="291417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CC2222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</a:t>
            </a:r>
            <a:endParaRPr lang="en-US" sz="500" dirty="0"/>
          </a:p>
        </p:txBody>
      </p:sp>
      <p:sp>
        <p:nvSpPr>
          <p:cNvPr id="40" name="Text 33"/>
          <p:cNvSpPr/>
          <p:nvPr/>
        </p:nvSpPr>
        <p:spPr>
          <a:xfrm>
            <a:off x="828675" y="2915962"/>
            <a:ext cx="140731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AE guesses fixes, resubmits 1.8× avg</a:t>
            </a:r>
            <a:endParaRPr lang="en-US" sz="55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569" y="2937393"/>
            <a:ext cx="64294" cy="6429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28675" y="3030596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Trial-and-error loop — no predictive scoring to guide changes</a:t>
            </a:r>
            <a:endParaRPr lang="en-US" sz="500" dirty="0"/>
          </a:p>
        </p:txBody>
      </p:sp>
      <p:sp>
        <p:nvSpPr>
          <p:cNvPr id="43" name="Shape 35"/>
          <p:cNvSpPr/>
          <p:nvPr/>
        </p:nvSpPr>
        <p:spPr>
          <a:xfrm>
            <a:off x="514350" y="3230621"/>
            <a:ext cx="3871913" cy="345021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00075" y="3287771"/>
            <a:ext cx="157163" cy="157163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600075" y="328777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7</a:t>
            </a:r>
            <a:endParaRPr lang="en-US" sz="500" dirty="0"/>
          </a:p>
        </p:txBody>
      </p:sp>
      <p:sp>
        <p:nvSpPr>
          <p:cNvPr id="46" name="Text 38"/>
          <p:cNvSpPr/>
          <p:nvPr/>
        </p:nvSpPr>
        <p:spPr>
          <a:xfrm>
            <a:off x="828675" y="3287771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Eventually approved (9.2 days avg)</a:t>
            </a:r>
            <a:endParaRPr lang="en-US" sz="550" dirty="0"/>
          </a:p>
        </p:txBody>
      </p:sp>
      <p:sp>
        <p:nvSpPr>
          <p:cNvPr id="47" name="Text 39"/>
          <p:cNvSpPr/>
          <p:nvPr/>
        </p:nvSpPr>
        <p:spPr>
          <a:xfrm>
            <a:off x="828675" y="3404192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€25M ARR lost annually from delayed/abandoned deals</a:t>
            </a:r>
            <a:endParaRPr lang="en-US" sz="500" dirty="0"/>
          </a:p>
        </p:txBody>
      </p:sp>
      <p:sp>
        <p:nvSpPr>
          <p:cNvPr id="48" name="Shape 40"/>
          <p:cNvSpPr/>
          <p:nvPr/>
        </p:nvSpPr>
        <p:spPr>
          <a:xfrm>
            <a:off x="514350" y="4672013"/>
            <a:ext cx="3871913" cy="271463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514350" y="4672013"/>
            <a:ext cx="3871913" cy="14288"/>
          </a:xfrm>
          <a:prstGeom prst="rect">
            <a:avLst/>
          </a:prstGeom>
          <a:solidFill>
            <a:srgbClr val="CC22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3" y="4757738"/>
            <a:ext cx="114300" cy="1143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785813" y="4766667"/>
            <a:ext cx="256996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CC222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Zero intelligence during configuration — all pain is post-submission</a:t>
            </a:r>
            <a:endParaRPr lang="en-US" sz="550" dirty="0"/>
          </a:p>
        </p:txBody>
      </p:sp>
      <p:sp>
        <p:nvSpPr>
          <p:cNvPr id="52" name="Shape 43"/>
          <p:cNvSpPr/>
          <p:nvPr/>
        </p:nvSpPr>
        <p:spPr>
          <a:xfrm>
            <a:off x="4757738" y="746159"/>
            <a:ext cx="889397" cy="171450"/>
          </a:xfrm>
          <a:prstGeom prst="rect">
            <a:avLst/>
          </a:prstGeom>
          <a:solidFill>
            <a:srgbClr val="F0FFF0"/>
          </a:solidFill>
          <a:ln w="9144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3463" y="792593"/>
            <a:ext cx="75009" cy="64294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4947047" y="781878"/>
            <a:ext cx="60007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FUTURE STATE</a:t>
            </a:r>
            <a:endParaRPr lang="en-US" sz="450" dirty="0"/>
          </a:p>
        </p:txBody>
      </p:sp>
      <p:sp>
        <p:nvSpPr>
          <p:cNvPr id="55" name="Text 45"/>
          <p:cNvSpPr/>
          <p:nvPr/>
        </p:nvSpPr>
        <p:spPr>
          <a:xfrm>
            <a:off x="5704284" y="777413"/>
            <a:ext cx="1371600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Cycle: </a:t>
            </a:r>
            <a:r>
              <a:rPr lang="en-US" sz="500" b="1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&lt;3 days</a:t>
            </a:r>
            <a:r>
              <a:rPr lang="en-US" sz="50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| Rejection: </a:t>
            </a:r>
            <a:r>
              <a:rPr lang="en-US" sz="500" b="1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&lt;12%</a:t>
            </a:r>
            <a:endParaRPr lang="en-US" sz="500" dirty="0"/>
          </a:p>
        </p:txBody>
      </p:sp>
      <p:sp>
        <p:nvSpPr>
          <p:cNvPr id="56" name="Shape 46"/>
          <p:cNvSpPr/>
          <p:nvPr/>
        </p:nvSpPr>
        <p:spPr>
          <a:xfrm>
            <a:off x="4757738" y="989047"/>
            <a:ext cx="3871913" cy="477180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4843463" y="1046197"/>
            <a:ext cx="157163" cy="157163"/>
          </a:xfrm>
          <a:prstGeom prst="rect">
            <a:avLst/>
          </a:prstGeom>
          <a:solidFill>
            <a:srgbClr val="4A0080"/>
          </a:solidFill>
          <a:ln w="9144">
            <a:solidFill>
              <a:srgbClr val="4A0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/>
          <p:nvPr/>
        </p:nvSpPr>
        <p:spPr>
          <a:xfrm>
            <a:off x="4843463" y="104619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</a:t>
            </a:r>
            <a:endParaRPr lang="en-US" sz="500" dirty="0"/>
          </a:p>
        </p:txBody>
      </p:sp>
      <p:sp>
        <p:nvSpPr>
          <p:cNvPr id="59" name="Text 49"/>
          <p:cNvSpPr/>
          <p:nvPr/>
        </p:nvSpPr>
        <p:spPr>
          <a:xfrm>
            <a:off x="5072063" y="1046197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AE configures quote — 6 engines fire in real-time</a:t>
            </a:r>
            <a:endParaRPr lang="en-US" sz="550" dirty="0"/>
          </a:p>
        </p:txBody>
      </p:sp>
      <p:sp>
        <p:nvSpPr>
          <p:cNvPr id="60" name="Text 50"/>
          <p:cNvSpPr/>
          <p:nvPr/>
        </p:nvSpPr>
        <p:spPr>
          <a:xfrm>
            <a:off x="5072063" y="1162617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SKU addition, ramp change, or field edit triggers validation</a:t>
            </a:r>
            <a:endParaRPr lang="en-US" sz="500" dirty="0"/>
          </a:p>
        </p:txBody>
      </p:sp>
      <p:sp>
        <p:nvSpPr>
          <p:cNvPr id="61" name="Shape 51"/>
          <p:cNvSpPr/>
          <p:nvPr/>
        </p:nvSpPr>
        <p:spPr>
          <a:xfrm>
            <a:off x="5072063" y="1300135"/>
            <a:ext cx="275034" cy="91083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2"/>
          <p:cNvSpPr/>
          <p:nvPr/>
        </p:nvSpPr>
        <p:spPr>
          <a:xfrm>
            <a:off x="5072063" y="1300135"/>
            <a:ext cx="275034" cy="91083"/>
          </a:xfrm>
          <a:prstGeom prst="rect">
            <a:avLst/>
          </a:prstGeom>
          <a:noFill/>
          <a:ln/>
        </p:spPr>
        <p:txBody>
          <a:bodyPr wrap="none" lIns="42545" tIns="8509" rIns="42545" bIns="8509" rtlCol="0" anchor="t">
            <a:spAutoFit/>
          </a:bodyPr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 LEP</a:t>
            </a:r>
            <a:endParaRPr lang="en-US" sz="400" dirty="0"/>
          </a:p>
        </p:txBody>
      </p:sp>
      <p:sp>
        <p:nvSpPr>
          <p:cNvPr id="63" name="Shape 53"/>
          <p:cNvSpPr/>
          <p:nvPr/>
        </p:nvSpPr>
        <p:spPr>
          <a:xfrm>
            <a:off x="5397103" y="1300135"/>
            <a:ext cx="275034" cy="91083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4"/>
          <p:cNvSpPr/>
          <p:nvPr/>
        </p:nvSpPr>
        <p:spPr>
          <a:xfrm>
            <a:off x="5397103" y="1300135"/>
            <a:ext cx="275034" cy="91083"/>
          </a:xfrm>
          <a:prstGeom prst="rect">
            <a:avLst/>
          </a:prstGeom>
          <a:noFill/>
          <a:ln/>
        </p:spPr>
        <p:txBody>
          <a:bodyPr wrap="none" lIns="42545" tIns="8509" rIns="42545" bIns="8509" rtlCol="0" anchor="t">
            <a:spAutoFit/>
          </a:bodyPr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 ACV</a:t>
            </a:r>
            <a:endParaRPr lang="en-US" sz="400" dirty="0"/>
          </a:p>
        </p:txBody>
      </p:sp>
      <p:sp>
        <p:nvSpPr>
          <p:cNvPr id="65" name="Shape 55"/>
          <p:cNvSpPr/>
          <p:nvPr/>
        </p:nvSpPr>
        <p:spPr>
          <a:xfrm>
            <a:off x="5722144" y="1300135"/>
            <a:ext cx="275034" cy="91083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6"/>
          <p:cNvSpPr/>
          <p:nvPr/>
        </p:nvSpPr>
        <p:spPr>
          <a:xfrm>
            <a:off x="5722144" y="1300135"/>
            <a:ext cx="275034" cy="91083"/>
          </a:xfrm>
          <a:prstGeom prst="rect">
            <a:avLst/>
          </a:prstGeom>
          <a:noFill/>
          <a:ln/>
        </p:spPr>
        <p:txBody>
          <a:bodyPr wrap="none" lIns="42545" tIns="8509" rIns="42545" bIns="8509" rtlCol="0" anchor="t">
            <a:spAutoFit/>
          </a:bodyPr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 DHI</a:t>
            </a:r>
            <a:endParaRPr lang="en-US" sz="400" dirty="0"/>
          </a:p>
        </p:txBody>
      </p:sp>
      <p:sp>
        <p:nvSpPr>
          <p:cNvPr id="67" name="Shape 57"/>
          <p:cNvSpPr/>
          <p:nvPr/>
        </p:nvSpPr>
        <p:spPr>
          <a:xfrm>
            <a:off x="6047184" y="1300135"/>
            <a:ext cx="241102" cy="91083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8"/>
          <p:cNvSpPr/>
          <p:nvPr/>
        </p:nvSpPr>
        <p:spPr>
          <a:xfrm>
            <a:off x="6047184" y="1300135"/>
            <a:ext cx="241102" cy="91083"/>
          </a:xfrm>
          <a:prstGeom prst="rect">
            <a:avLst/>
          </a:prstGeom>
          <a:noFill/>
          <a:ln/>
        </p:spPr>
        <p:txBody>
          <a:bodyPr wrap="none" lIns="42545" tIns="8509" rIns="42545" bIns="8509" rtlCol="0" anchor="t">
            <a:spAutoFit/>
          </a:bodyPr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 ML</a:t>
            </a:r>
            <a:endParaRPr lang="en-US" sz="400" dirty="0"/>
          </a:p>
        </p:txBody>
      </p:sp>
      <p:sp>
        <p:nvSpPr>
          <p:cNvPr id="69" name="Shape 59"/>
          <p:cNvSpPr/>
          <p:nvPr/>
        </p:nvSpPr>
        <p:spPr>
          <a:xfrm>
            <a:off x="6338292" y="1300135"/>
            <a:ext cx="275034" cy="91083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0"/>
          <p:cNvSpPr/>
          <p:nvPr/>
        </p:nvSpPr>
        <p:spPr>
          <a:xfrm>
            <a:off x="6338292" y="1300135"/>
            <a:ext cx="275034" cy="91083"/>
          </a:xfrm>
          <a:prstGeom prst="rect">
            <a:avLst/>
          </a:prstGeom>
          <a:noFill/>
          <a:ln/>
        </p:spPr>
        <p:txBody>
          <a:bodyPr wrap="none" lIns="42545" tIns="8509" rIns="42545" bIns="8509" rtlCol="0" anchor="t">
            <a:spAutoFit/>
          </a:bodyPr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05 SKU</a:t>
            </a:r>
            <a:endParaRPr lang="en-US" sz="400" dirty="0"/>
          </a:p>
        </p:txBody>
      </p:sp>
      <p:sp>
        <p:nvSpPr>
          <p:cNvPr id="71" name="Shape 61"/>
          <p:cNvSpPr/>
          <p:nvPr/>
        </p:nvSpPr>
        <p:spPr>
          <a:xfrm>
            <a:off x="6663333" y="1300135"/>
            <a:ext cx="376833" cy="91083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2"/>
          <p:cNvSpPr/>
          <p:nvPr/>
        </p:nvSpPr>
        <p:spPr>
          <a:xfrm>
            <a:off x="6663333" y="1300135"/>
            <a:ext cx="376833" cy="91083"/>
          </a:xfrm>
          <a:prstGeom prst="rect">
            <a:avLst/>
          </a:prstGeom>
          <a:noFill/>
          <a:ln/>
        </p:spPr>
        <p:txBody>
          <a:bodyPr wrap="none" lIns="42545" tIns="8509" rIns="42545" bIns="8509" rtlCol="0" anchor="t">
            <a:spAutoFit/>
          </a:bodyPr>
          <a:lstStyle/>
          <a:p>
            <a:pPr marL="0" indent="0" algn="l">
              <a:buNone/>
            </a:pPr>
            <a:r>
              <a:rPr lang="en-US" sz="4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06 ASC606</a:t>
            </a:r>
            <a:endParaRPr lang="en-US" sz="400" dirty="0"/>
          </a:p>
        </p:txBody>
      </p:sp>
      <p:sp>
        <p:nvSpPr>
          <p:cNvPr id="73" name="Shape 63"/>
          <p:cNvSpPr/>
          <p:nvPr/>
        </p:nvSpPr>
        <p:spPr>
          <a:xfrm>
            <a:off x="4757738" y="1494802"/>
            <a:ext cx="3871913" cy="345021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4"/>
          <p:cNvSpPr/>
          <p:nvPr/>
        </p:nvSpPr>
        <p:spPr>
          <a:xfrm>
            <a:off x="4843463" y="1551952"/>
            <a:ext cx="157163" cy="157163"/>
          </a:xfrm>
          <a:prstGeom prst="rect">
            <a:avLst/>
          </a:prstGeom>
          <a:solidFill>
            <a:srgbClr val="4A0080"/>
          </a:solidFill>
          <a:ln w="9144">
            <a:solidFill>
              <a:srgbClr val="4A0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5"/>
          <p:cNvSpPr/>
          <p:nvPr/>
        </p:nvSpPr>
        <p:spPr>
          <a:xfrm>
            <a:off x="4843463" y="15519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</a:t>
            </a:r>
            <a:endParaRPr lang="en-US" sz="500" dirty="0"/>
          </a:p>
        </p:txBody>
      </p:sp>
      <p:sp>
        <p:nvSpPr>
          <p:cNvPr id="76" name="Text 66"/>
          <p:cNvSpPr/>
          <p:nvPr/>
        </p:nvSpPr>
        <p:spPr>
          <a:xfrm>
            <a:off x="5072063" y="1551952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Inline guidance resolves issues during config</a:t>
            </a:r>
            <a:endParaRPr lang="en-US" sz="550" dirty="0"/>
          </a:p>
        </p:txBody>
      </p:sp>
      <p:sp>
        <p:nvSpPr>
          <p:cNvPr id="77" name="Text 67"/>
          <p:cNvSpPr/>
          <p:nvPr/>
        </p:nvSpPr>
        <p:spPr>
          <a:xfrm>
            <a:off x="5072063" y="1668373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Plain-language DHI flags, ML score with top factors, ACV % visible</a:t>
            </a:r>
            <a:endParaRPr lang="en-US" sz="500" dirty="0"/>
          </a:p>
        </p:txBody>
      </p:sp>
      <p:sp>
        <p:nvSpPr>
          <p:cNvPr id="78" name="Shape 68"/>
          <p:cNvSpPr/>
          <p:nvPr/>
        </p:nvSpPr>
        <p:spPr>
          <a:xfrm>
            <a:off x="4757738" y="1868398"/>
            <a:ext cx="3871913" cy="345021"/>
          </a:xfrm>
          <a:prstGeom prst="rect">
            <a:avLst/>
          </a:prstGeom>
          <a:solidFill>
            <a:srgbClr val="FAFFFE"/>
          </a:solidFill>
          <a:ln w="9144">
            <a:solidFill>
              <a:srgbClr val="E0F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69"/>
          <p:cNvSpPr/>
          <p:nvPr/>
        </p:nvSpPr>
        <p:spPr>
          <a:xfrm>
            <a:off x="4843463" y="1925548"/>
            <a:ext cx="157163" cy="15716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0"/>
          <p:cNvSpPr/>
          <p:nvPr/>
        </p:nvSpPr>
        <p:spPr>
          <a:xfrm>
            <a:off x="4843463" y="192554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</a:t>
            </a:r>
            <a:endParaRPr lang="en-US" sz="500" dirty="0"/>
          </a:p>
        </p:txBody>
      </p:sp>
      <p:sp>
        <p:nvSpPr>
          <p:cNvPr id="81" name="Text 71"/>
          <p:cNvSpPr/>
          <p:nvPr/>
        </p:nvSpPr>
        <p:spPr>
          <a:xfrm>
            <a:off x="5072063" y="1925548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SKU issues resolved with one click</a:t>
            </a:r>
            <a:endParaRPr lang="en-US" sz="550" dirty="0"/>
          </a:p>
        </p:txBody>
      </p:sp>
      <p:sp>
        <p:nvSpPr>
          <p:cNvPr id="82" name="Text 72"/>
          <p:cNvSpPr/>
          <p:nvPr/>
        </p:nvSpPr>
        <p:spPr>
          <a:xfrm>
            <a:off x="5072063" y="2041968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ServiceNow ticket — AI suggests mapping, AE confirms inline</a:t>
            </a:r>
            <a:endParaRPr lang="en-US" sz="500" dirty="0"/>
          </a:p>
        </p:txBody>
      </p:sp>
      <p:sp>
        <p:nvSpPr>
          <p:cNvPr id="83" name="Shape 73"/>
          <p:cNvSpPr/>
          <p:nvPr/>
        </p:nvSpPr>
        <p:spPr>
          <a:xfrm>
            <a:off x="4757738" y="2241993"/>
            <a:ext cx="3871913" cy="345021"/>
          </a:xfrm>
          <a:prstGeom prst="rect">
            <a:avLst/>
          </a:prstGeom>
          <a:solidFill>
            <a:srgbClr val="FAFFFE"/>
          </a:solidFill>
          <a:ln w="9144">
            <a:solidFill>
              <a:srgbClr val="E0F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74"/>
          <p:cNvSpPr/>
          <p:nvPr/>
        </p:nvSpPr>
        <p:spPr>
          <a:xfrm>
            <a:off x="4843463" y="2299143"/>
            <a:ext cx="157163" cy="15716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5"/>
          <p:cNvSpPr/>
          <p:nvPr/>
        </p:nvSpPr>
        <p:spPr>
          <a:xfrm>
            <a:off x="4843463" y="229914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</a:t>
            </a:r>
            <a:endParaRPr lang="en-US" sz="500" dirty="0"/>
          </a:p>
        </p:txBody>
      </p:sp>
      <p:sp>
        <p:nvSpPr>
          <p:cNvPr id="86" name="Text 76"/>
          <p:cNvSpPr/>
          <p:nvPr/>
        </p:nvSpPr>
        <p:spPr>
          <a:xfrm>
            <a:off x="5072063" y="2299143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ASC 606 validated automatically</a:t>
            </a:r>
            <a:endParaRPr lang="en-US" sz="550" dirty="0"/>
          </a:p>
        </p:txBody>
      </p:sp>
      <p:sp>
        <p:nvSpPr>
          <p:cNvPr id="87" name="Text 77"/>
          <p:cNvSpPr/>
          <p:nvPr/>
        </p:nvSpPr>
        <p:spPr>
          <a:xfrm>
            <a:off x="5072063" y="2415564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SSP allocation, PO class, variable consideration — checked as SKUs are added</a:t>
            </a:r>
            <a:endParaRPr lang="en-US" sz="500" dirty="0"/>
          </a:p>
        </p:txBody>
      </p:sp>
      <p:sp>
        <p:nvSpPr>
          <p:cNvPr id="88" name="Shape 78"/>
          <p:cNvSpPr/>
          <p:nvPr/>
        </p:nvSpPr>
        <p:spPr>
          <a:xfrm>
            <a:off x="4757738" y="2615589"/>
            <a:ext cx="3871913" cy="345021"/>
          </a:xfrm>
          <a:prstGeom prst="rect">
            <a:avLst/>
          </a:prstGeom>
          <a:solidFill>
            <a:srgbClr val="FAFFFE"/>
          </a:solidFill>
          <a:ln w="9144">
            <a:solidFill>
              <a:srgbClr val="E0F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79"/>
          <p:cNvSpPr/>
          <p:nvPr/>
        </p:nvSpPr>
        <p:spPr>
          <a:xfrm>
            <a:off x="4843463" y="2672739"/>
            <a:ext cx="157163" cy="15716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0"/>
          <p:cNvSpPr/>
          <p:nvPr/>
        </p:nvSpPr>
        <p:spPr>
          <a:xfrm>
            <a:off x="4843463" y="267273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endParaRPr lang="en-US" sz="500" dirty="0"/>
          </a:p>
        </p:txBody>
      </p:sp>
      <p:sp>
        <p:nvSpPr>
          <p:cNvPr id="91" name="Text 81"/>
          <p:cNvSpPr/>
          <p:nvPr/>
        </p:nvSpPr>
        <p:spPr>
          <a:xfrm>
            <a:off x="5072063" y="2672739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Submit → Auto-approve or DoA-routed</a:t>
            </a:r>
            <a:endParaRPr lang="en-US" sz="550" dirty="0"/>
          </a:p>
        </p:txBody>
      </p:sp>
      <p:sp>
        <p:nvSpPr>
          <p:cNvPr id="92" name="Text 82"/>
          <p:cNvSpPr/>
          <p:nvPr/>
        </p:nvSpPr>
        <p:spPr>
          <a:xfrm>
            <a:off x="5072063" y="2789160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High-confidence deals approved instantly; others routed to correct tier</a:t>
            </a:r>
            <a:endParaRPr lang="en-US" sz="500" dirty="0"/>
          </a:p>
        </p:txBody>
      </p:sp>
      <p:sp>
        <p:nvSpPr>
          <p:cNvPr id="93" name="Shape 83"/>
          <p:cNvSpPr/>
          <p:nvPr/>
        </p:nvSpPr>
        <p:spPr>
          <a:xfrm>
            <a:off x="4757738" y="2989185"/>
            <a:ext cx="3871913" cy="345021"/>
          </a:xfrm>
          <a:prstGeom prst="rect">
            <a:avLst/>
          </a:prstGeom>
          <a:solidFill>
            <a:srgbClr val="FAFFFE"/>
          </a:solidFill>
          <a:ln w="9144">
            <a:solidFill>
              <a:srgbClr val="E0F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4"/>
          <p:cNvSpPr/>
          <p:nvPr/>
        </p:nvSpPr>
        <p:spPr>
          <a:xfrm>
            <a:off x="4843463" y="3046335"/>
            <a:ext cx="157163" cy="157163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5"/>
          <p:cNvSpPr/>
          <p:nvPr/>
        </p:nvSpPr>
        <p:spPr>
          <a:xfrm>
            <a:off x="4843463" y="304633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6</a:t>
            </a:r>
            <a:endParaRPr lang="en-US" sz="500" dirty="0"/>
          </a:p>
        </p:txBody>
      </p:sp>
      <p:sp>
        <p:nvSpPr>
          <p:cNvPr id="96" name="Text 86"/>
          <p:cNvSpPr/>
          <p:nvPr/>
        </p:nvSpPr>
        <p:spPr>
          <a:xfrm>
            <a:off x="5072063" y="3046335"/>
            <a:ext cx="34718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Approved in &lt;3 days (vs. 9.2 days)</a:t>
            </a:r>
            <a:endParaRPr lang="en-US" sz="550" dirty="0"/>
          </a:p>
        </p:txBody>
      </p:sp>
      <p:sp>
        <p:nvSpPr>
          <p:cNvPr id="97" name="Text 87"/>
          <p:cNvSpPr/>
          <p:nvPr/>
        </p:nvSpPr>
        <p:spPr>
          <a:xfrm>
            <a:off x="5072063" y="3162756"/>
            <a:ext cx="34718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First-time approval rate &gt;88% — minimal resubmission loops</a:t>
            </a:r>
            <a:endParaRPr lang="en-US" sz="500" dirty="0"/>
          </a:p>
        </p:txBody>
      </p:sp>
      <p:sp>
        <p:nvSpPr>
          <p:cNvPr id="98" name="Shape 88"/>
          <p:cNvSpPr/>
          <p:nvPr/>
        </p:nvSpPr>
        <p:spPr>
          <a:xfrm>
            <a:off x="4757738" y="4672013"/>
            <a:ext cx="3871913" cy="271463"/>
          </a:xfrm>
          <a:prstGeom prst="rect">
            <a:avLst/>
          </a:prstGeom>
          <a:solidFill>
            <a:srgbClr val="F0F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89"/>
          <p:cNvSpPr/>
          <p:nvPr/>
        </p:nvSpPr>
        <p:spPr>
          <a:xfrm>
            <a:off x="4757738" y="4672013"/>
            <a:ext cx="3871913" cy="14288"/>
          </a:xfrm>
          <a:prstGeom prst="rect">
            <a:avLst/>
          </a:prstGeom>
          <a:solidFill>
            <a:srgbClr val="1A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4757738"/>
            <a:ext cx="114300" cy="114300"/>
          </a:xfrm>
          <a:prstGeom prst="rect">
            <a:avLst/>
          </a:prstGeom>
        </p:spPr>
      </p:pic>
      <p:sp>
        <p:nvSpPr>
          <p:cNvPr id="101" name="Text 90"/>
          <p:cNvSpPr/>
          <p:nvPr/>
        </p:nvSpPr>
        <p:spPr>
          <a:xfrm>
            <a:off x="5029200" y="4766667"/>
            <a:ext cx="290750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6B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All intelligence embedded during configuration — issues fixed before submit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28875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2421731" y="0"/>
            <a:ext cx="7144" cy="51435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42900" y="1421857"/>
            <a:ext cx="185737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2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SOLUTION ARCHITECTURE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342900" y="1630812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1A1A1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High-Level System Topology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2900" y="2225139"/>
            <a:ext cx="1857375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Embedded Configuration Intelligence Engine operates as a real-time extension layer within D365 CPQ — intercepting configuration events and returning inline guidance before submission.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42900" y="3168002"/>
            <a:ext cx="1857375" cy="553641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2900" y="3168002"/>
            <a:ext cx="21431" cy="553641"/>
          </a:xfrm>
          <a:prstGeom prst="rect">
            <a:avLst/>
          </a:prstGeom>
          <a:solidFill>
            <a:srgbClr val="4A0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87660"/>
            <a:ext cx="69652" cy="785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9714" y="3278730"/>
            <a:ext cx="126444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D365 CPQ remains the System of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457200" y="3396602"/>
            <a:ext cx="150018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Record. This solution extends — it does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457200" y="3514474"/>
            <a:ext cx="45184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not replace.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2714625" y="1202299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450" kern="0" spc="1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PRESENTATION</a:t>
            </a:r>
            <a:endParaRPr lang="en-US" sz="450" dirty="0"/>
          </a:p>
        </p:txBody>
      </p:sp>
      <p:sp>
        <p:nvSpPr>
          <p:cNvPr id="15" name="Shape 11"/>
          <p:cNvSpPr/>
          <p:nvPr/>
        </p:nvSpPr>
        <p:spPr>
          <a:xfrm>
            <a:off x="3443288" y="1030849"/>
            <a:ext cx="2671763" cy="428625"/>
          </a:xfrm>
          <a:prstGeom prst="rect">
            <a:avLst/>
          </a:prstGeom>
          <a:solidFill>
            <a:srgbClr val="F8F8F8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740" y="1139791"/>
            <a:ext cx="75009" cy="857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4324" y="1130861"/>
            <a:ext cx="46613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AE Module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3557588" y="1257663"/>
            <a:ext cx="2436019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3333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Builder + Deal Dashboard</a:t>
            </a:r>
            <a:endParaRPr lang="en-US" sz="500" dirty="0"/>
          </a:p>
        </p:txBody>
      </p:sp>
      <p:sp>
        <p:nvSpPr>
          <p:cNvPr id="19" name="Shape 14"/>
          <p:cNvSpPr/>
          <p:nvPr/>
        </p:nvSpPr>
        <p:spPr>
          <a:xfrm>
            <a:off x="6179344" y="1030849"/>
            <a:ext cx="2678906" cy="428625"/>
          </a:xfrm>
          <a:prstGeom prst="rect">
            <a:avLst/>
          </a:prstGeom>
          <a:solidFill>
            <a:srgbClr val="F8F8F8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463" y="1146935"/>
            <a:ext cx="64294" cy="857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2331" y="1138005"/>
            <a:ext cx="6929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Portal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6300788" y="1264807"/>
            <a:ext cx="244316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3333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Proposal Submission</a:t>
            </a:r>
            <a:endParaRPr lang="en-US" sz="500" dirty="0"/>
          </a:p>
        </p:txBody>
      </p:sp>
      <p:sp>
        <p:nvSpPr>
          <p:cNvPr id="23" name="Text 17"/>
          <p:cNvSpPr/>
          <p:nvPr/>
        </p:nvSpPr>
        <p:spPr>
          <a:xfrm>
            <a:off x="2714625" y="1523767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836444" y="1523767"/>
            <a:ext cx="62865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Real-time events</a:t>
            </a:r>
            <a:endParaRPr lang="en-US" sz="450" dirty="0"/>
          </a:p>
        </p:txBody>
      </p:sp>
      <p:sp>
        <p:nvSpPr>
          <p:cNvPr id="25" name="Text 19"/>
          <p:cNvSpPr/>
          <p:nvPr/>
        </p:nvSpPr>
        <p:spPr>
          <a:xfrm>
            <a:off x="2714625" y="2164556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450" kern="0" spc="1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INTELLIGENCE</a:t>
            </a:r>
            <a:endParaRPr lang="en-US" sz="450" dirty="0"/>
          </a:p>
        </p:txBody>
      </p:sp>
      <p:sp>
        <p:nvSpPr>
          <p:cNvPr id="26" name="Shape 20"/>
          <p:cNvSpPr/>
          <p:nvPr/>
        </p:nvSpPr>
        <p:spPr>
          <a:xfrm>
            <a:off x="3443288" y="1680930"/>
            <a:ext cx="5414963" cy="1052978"/>
          </a:xfrm>
          <a:prstGeom prst="rect">
            <a:avLst/>
          </a:prstGeom>
          <a:solidFill>
            <a:srgbClr val="2D0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586163" y="1803267"/>
            <a:ext cx="201453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Embedded Configuration Intelligence Engine</a:t>
            </a:r>
            <a:endParaRPr lang="en-US" sz="650" dirty="0"/>
          </a:p>
        </p:txBody>
      </p:sp>
      <p:sp>
        <p:nvSpPr>
          <p:cNvPr id="28" name="Shape 22"/>
          <p:cNvSpPr/>
          <p:nvPr/>
        </p:nvSpPr>
        <p:spPr>
          <a:xfrm>
            <a:off x="7786688" y="1795230"/>
            <a:ext cx="928688" cy="128588"/>
          </a:xfrm>
          <a:prstGeom prst="rect">
            <a:avLst/>
          </a:prstGeom>
          <a:solidFill>
            <a:srgbClr val="A100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786688" y="1795230"/>
            <a:ext cx="928688" cy="128588"/>
          </a:xfrm>
          <a:prstGeom prst="rect">
            <a:avLst/>
          </a:prstGeom>
          <a:noFill/>
          <a:ln/>
        </p:spPr>
        <p:txBody>
          <a:bodyPr wrap="none" lIns="68072" tIns="25527" rIns="68072" bIns="25527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FIRES DURING CONFIG</a:t>
            </a:r>
            <a:endParaRPr lang="en-US" sz="450" dirty="0"/>
          </a:p>
        </p:txBody>
      </p:sp>
      <p:sp>
        <p:nvSpPr>
          <p:cNvPr id="30" name="Shape 24"/>
          <p:cNvSpPr/>
          <p:nvPr/>
        </p:nvSpPr>
        <p:spPr>
          <a:xfrm>
            <a:off x="3586163" y="1980967"/>
            <a:ext cx="1681153" cy="29788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657600" y="2038117"/>
            <a:ext cx="1538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01</a:t>
            </a:r>
            <a:endParaRPr lang="en-US" sz="450" dirty="0"/>
          </a:p>
        </p:txBody>
      </p:sp>
      <p:sp>
        <p:nvSpPr>
          <p:cNvPr id="32" name="Text 26"/>
          <p:cNvSpPr/>
          <p:nvPr/>
        </p:nvSpPr>
        <p:spPr>
          <a:xfrm>
            <a:off x="3657600" y="2138130"/>
            <a:ext cx="15382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LEP Compliance</a:t>
            </a:r>
            <a:endParaRPr lang="en-US" sz="450" dirty="0"/>
          </a:p>
        </p:txBody>
      </p:sp>
      <p:sp>
        <p:nvSpPr>
          <p:cNvPr id="33" name="Shape 27"/>
          <p:cNvSpPr/>
          <p:nvPr/>
        </p:nvSpPr>
        <p:spPr>
          <a:xfrm>
            <a:off x="5310178" y="1980967"/>
            <a:ext cx="1681153" cy="29788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381616" y="2038117"/>
            <a:ext cx="1538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02</a:t>
            </a:r>
            <a:endParaRPr lang="en-US" sz="450" dirty="0"/>
          </a:p>
        </p:txBody>
      </p:sp>
      <p:sp>
        <p:nvSpPr>
          <p:cNvPr id="35" name="Text 29"/>
          <p:cNvSpPr/>
          <p:nvPr/>
        </p:nvSpPr>
        <p:spPr>
          <a:xfrm>
            <a:off x="5381616" y="2138130"/>
            <a:ext cx="15382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ACV Phasing</a:t>
            </a:r>
            <a:endParaRPr lang="en-US" sz="450" dirty="0"/>
          </a:p>
        </p:txBody>
      </p:sp>
      <p:sp>
        <p:nvSpPr>
          <p:cNvPr id="36" name="Shape 30"/>
          <p:cNvSpPr/>
          <p:nvPr/>
        </p:nvSpPr>
        <p:spPr>
          <a:xfrm>
            <a:off x="7034194" y="1980967"/>
            <a:ext cx="1681153" cy="29788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7105631" y="2038117"/>
            <a:ext cx="1538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03</a:t>
            </a:r>
            <a:endParaRPr lang="en-US" sz="450" dirty="0"/>
          </a:p>
        </p:txBody>
      </p:sp>
      <p:sp>
        <p:nvSpPr>
          <p:cNvPr id="38" name="Text 32"/>
          <p:cNvSpPr/>
          <p:nvPr/>
        </p:nvSpPr>
        <p:spPr>
          <a:xfrm>
            <a:off x="7105631" y="2138130"/>
            <a:ext cx="15382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DHI Preview</a:t>
            </a:r>
            <a:endParaRPr lang="en-US" sz="450" dirty="0"/>
          </a:p>
        </p:txBody>
      </p:sp>
      <p:sp>
        <p:nvSpPr>
          <p:cNvPr id="39" name="Shape 33"/>
          <p:cNvSpPr/>
          <p:nvPr/>
        </p:nvSpPr>
        <p:spPr>
          <a:xfrm>
            <a:off x="3586163" y="2321719"/>
            <a:ext cx="1681153" cy="29788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3657600" y="2378869"/>
            <a:ext cx="1538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04</a:t>
            </a:r>
            <a:endParaRPr lang="en-US" sz="450" dirty="0"/>
          </a:p>
        </p:txBody>
      </p:sp>
      <p:sp>
        <p:nvSpPr>
          <p:cNvPr id="41" name="Text 35"/>
          <p:cNvSpPr/>
          <p:nvPr/>
        </p:nvSpPr>
        <p:spPr>
          <a:xfrm>
            <a:off x="3657600" y="2478881"/>
            <a:ext cx="15382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ML Approval Score</a:t>
            </a:r>
            <a:endParaRPr lang="en-US" sz="450" dirty="0"/>
          </a:p>
        </p:txBody>
      </p:sp>
      <p:sp>
        <p:nvSpPr>
          <p:cNvPr id="42" name="Shape 36"/>
          <p:cNvSpPr/>
          <p:nvPr/>
        </p:nvSpPr>
        <p:spPr>
          <a:xfrm>
            <a:off x="5310178" y="2321719"/>
            <a:ext cx="1681153" cy="29788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5381616" y="2378869"/>
            <a:ext cx="1538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05</a:t>
            </a:r>
            <a:endParaRPr lang="en-US" sz="450" dirty="0"/>
          </a:p>
        </p:txBody>
      </p:sp>
      <p:sp>
        <p:nvSpPr>
          <p:cNvPr id="44" name="Text 38"/>
          <p:cNvSpPr/>
          <p:nvPr/>
        </p:nvSpPr>
        <p:spPr>
          <a:xfrm>
            <a:off x="5381616" y="2478881"/>
            <a:ext cx="15382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SKU Handling</a:t>
            </a:r>
            <a:endParaRPr lang="en-US" sz="450" dirty="0"/>
          </a:p>
        </p:txBody>
      </p:sp>
      <p:sp>
        <p:nvSpPr>
          <p:cNvPr id="45" name="Shape 39"/>
          <p:cNvSpPr/>
          <p:nvPr/>
        </p:nvSpPr>
        <p:spPr>
          <a:xfrm>
            <a:off x="7034194" y="2321719"/>
            <a:ext cx="1681153" cy="29788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7105631" y="2378869"/>
            <a:ext cx="1538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06</a:t>
            </a:r>
            <a:endParaRPr lang="en-US" sz="450" dirty="0"/>
          </a:p>
        </p:txBody>
      </p:sp>
      <p:sp>
        <p:nvSpPr>
          <p:cNvPr id="47" name="Text 41"/>
          <p:cNvSpPr/>
          <p:nvPr/>
        </p:nvSpPr>
        <p:spPr>
          <a:xfrm>
            <a:off x="7105631" y="2478881"/>
            <a:ext cx="15382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CCCC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ASC 606 Layer</a:t>
            </a:r>
            <a:endParaRPr lang="en-US" sz="450" dirty="0"/>
          </a:p>
        </p:txBody>
      </p:sp>
      <p:sp>
        <p:nvSpPr>
          <p:cNvPr id="48" name="Text 42"/>
          <p:cNvSpPr/>
          <p:nvPr/>
        </p:nvSpPr>
        <p:spPr>
          <a:xfrm>
            <a:off x="2714625" y="2805345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797153" y="2805345"/>
            <a:ext cx="70723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Read/Write via API</a:t>
            </a:r>
            <a:endParaRPr lang="en-US" sz="450" dirty="0"/>
          </a:p>
        </p:txBody>
      </p:sp>
      <p:sp>
        <p:nvSpPr>
          <p:cNvPr id="50" name="Text 44"/>
          <p:cNvSpPr/>
          <p:nvPr/>
        </p:nvSpPr>
        <p:spPr>
          <a:xfrm>
            <a:off x="2714625" y="3098239"/>
            <a:ext cx="642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450" kern="0" spc="1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 OF RECORD</a:t>
            </a:r>
            <a:endParaRPr lang="en-US" sz="450" dirty="0"/>
          </a:p>
        </p:txBody>
      </p:sp>
      <p:sp>
        <p:nvSpPr>
          <p:cNvPr id="51" name="Shape 45"/>
          <p:cNvSpPr/>
          <p:nvPr/>
        </p:nvSpPr>
        <p:spPr>
          <a:xfrm>
            <a:off x="3443288" y="2962508"/>
            <a:ext cx="2671763" cy="442913"/>
          </a:xfrm>
          <a:prstGeom prst="rect">
            <a:avLst/>
          </a:prstGeom>
          <a:solidFill>
            <a:srgbClr val="FFFFFF"/>
          </a:solidFill>
          <a:ln w="18288">
            <a:solidFill>
              <a:srgbClr val="4A0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312" y="3071450"/>
            <a:ext cx="75009" cy="85725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4597896" y="3062520"/>
            <a:ext cx="45184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D365 CPQ</a:t>
            </a:r>
            <a:endParaRPr lang="en-US" sz="600" dirty="0"/>
          </a:p>
        </p:txBody>
      </p:sp>
      <p:sp>
        <p:nvSpPr>
          <p:cNvPr id="54" name="Text 47"/>
          <p:cNvSpPr/>
          <p:nvPr/>
        </p:nvSpPr>
        <p:spPr>
          <a:xfrm>
            <a:off x="3557588" y="3189322"/>
            <a:ext cx="2428875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66666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Configuration, Pricing, Quoting</a:t>
            </a:r>
            <a:endParaRPr lang="en-US" sz="500" dirty="0"/>
          </a:p>
        </p:txBody>
      </p:sp>
      <p:sp>
        <p:nvSpPr>
          <p:cNvPr id="55" name="Shape 48"/>
          <p:cNvSpPr/>
          <p:nvPr/>
        </p:nvSpPr>
        <p:spPr>
          <a:xfrm>
            <a:off x="6172200" y="2962508"/>
            <a:ext cx="2686050" cy="442913"/>
          </a:xfrm>
          <a:prstGeom prst="rect">
            <a:avLst/>
          </a:prstGeom>
          <a:solidFill>
            <a:srgbClr val="FFFFFF"/>
          </a:solidFill>
          <a:ln w="18288">
            <a:solidFill>
              <a:srgbClr val="4A0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2331" y="3085737"/>
            <a:ext cx="107156" cy="85725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7358063" y="3076808"/>
            <a:ext cx="4643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D365 CRM</a:t>
            </a:r>
            <a:endParaRPr lang="en-US" sz="600" dirty="0"/>
          </a:p>
        </p:txBody>
      </p:sp>
      <p:sp>
        <p:nvSpPr>
          <p:cNvPr id="58" name="Text 50"/>
          <p:cNvSpPr/>
          <p:nvPr/>
        </p:nvSpPr>
        <p:spPr>
          <a:xfrm>
            <a:off x="6300788" y="3203609"/>
            <a:ext cx="244316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666666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Account, Opportunity, Contact</a:t>
            </a:r>
            <a:endParaRPr lang="en-US" sz="500" dirty="0"/>
          </a:p>
        </p:txBody>
      </p:sp>
      <p:sp>
        <p:nvSpPr>
          <p:cNvPr id="59" name="Text 51"/>
          <p:cNvSpPr/>
          <p:nvPr/>
        </p:nvSpPr>
        <p:spPr>
          <a:xfrm>
            <a:off x="2714625" y="3634020"/>
            <a:ext cx="6429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450" kern="0" spc="1" dirty="0">
                <a:solidFill>
                  <a:srgbClr val="999999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SERVICES</a:t>
            </a:r>
            <a:endParaRPr lang="en-US" sz="450" dirty="0"/>
          </a:p>
        </p:txBody>
      </p:sp>
      <p:sp>
        <p:nvSpPr>
          <p:cNvPr id="60" name="Shape 52"/>
          <p:cNvSpPr/>
          <p:nvPr/>
        </p:nvSpPr>
        <p:spPr>
          <a:xfrm>
            <a:off x="3443288" y="3462570"/>
            <a:ext cx="1757363" cy="428625"/>
          </a:xfrm>
          <a:prstGeom prst="rect">
            <a:avLst/>
          </a:prstGeom>
          <a:solidFill>
            <a:srgbClr val="FAFAFA"/>
          </a:solidFill>
          <a:ln w="9144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8749" y="3571512"/>
            <a:ext cx="85725" cy="85725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3993049" y="3562583"/>
            <a:ext cx="76259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Model Service</a:t>
            </a:r>
            <a:endParaRPr lang="en-US" sz="600" dirty="0"/>
          </a:p>
        </p:txBody>
      </p:sp>
      <p:sp>
        <p:nvSpPr>
          <p:cNvPr id="63" name="Text 54"/>
          <p:cNvSpPr/>
          <p:nvPr/>
        </p:nvSpPr>
        <p:spPr>
          <a:xfrm>
            <a:off x="3557588" y="3689384"/>
            <a:ext cx="1519247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55555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probability scoring</a:t>
            </a:r>
            <a:endParaRPr lang="en-US" sz="500" dirty="0"/>
          </a:p>
        </p:txBody>
      </p:sp>
      <p:sp>
        <p:nvSpPr>
          <p:cNvPr id="64" name="Shape 55"/>
          <p:cNvSpPr/>
          <p:nvPr/>
        </p:nvSpPr>
        <p:spPr>
          <a:xfrm>
            <a:off x="5262572" y="3462570"/>
            <a:ext cx="1762134" cy="428625"/>
          </a:xfrm>
          <a:prstGeom prst="rect">
            <a:avLst/>
          </a:prstGeom>
          <a:solidFill>
            <a:srgbClr val="FAFAFA"/>
          </a:solidFill>
          <a:ln w="9144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9798" y="3571512"/>
            <a:ext cx="64294" cy="85725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842667" y="3562583"/>
            <a:ext cx="69473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ASC 606 Engine</a:t>
            </a:r>
            <a:endParaRPr lang="en-US" sz="600" dirty="0"/>
          </a:p>
        </p:txBody>
      </p:sp>
      <p:sp>
        <p:nvSpPr>
          <p:cNvPr id="67" name="Text 57"/>
          <p:cNvSpPr/>
          <p:nvPr/>
        </p:nvSpPr>
        <p:spPr>
          <a:xfrm>
            <a:off x="5381616" y="3689384"/>
            <a:ext cx="1523991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55555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recognition rules</a:t>
            </a:r>
            <a:endParaRPr lang="en-US" sz="500" dirty="0"/>
          </a:p>
        </p:txBody>
      </p:sp>
      <p:sp>
        <p:nvSpPr>
          <p:cNvPr id="68" name="Shape 58"/>
          <p:cNvSpPr/>
          <p:nvPr/>
        </p:nvSpPr>
        <p:spPr>
          <a:xfrm>
            <a:off x="7091344" y="3462570"/>
            <a:ext cx="1766878" cy="428625"/>
          </a:xfrm>
          <a:prstGeom prst="rect">
            <a:avLst/>
          </a:prstGeom>
          <a:solidFill>
            <a:srgbClr val="FFF5F5">
              <a:alpha val="60000"/>
            </a:srgbClr>
          </a:solidFill>
          <a:ln w="9144">
            <a:solidFill>
              <a:srgbClr val="CC0000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1672" y="3578656"/>
            <a:ext cx="85725" cy="85725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7775972" y="3569726"/>
            <a:ext cx="52149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CC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ServiceNow</a:t>
            </a:r>
            <a:endParaRPr lang="en-US" sz="600" dirty="0"/>
          </a:p>
        </p:txBody>
      </p:sp>
      <p:sp>
        <p:nvSpPr>
          <p:cNvPr id="71" name="Text 60"/>
          <p:cNvSpPr/>
          <p:nvPr/>
        </p:nvSpPr>
        <p:spPr>
          <a:xfrm>
            <a:off x="7215188" y="3696528"/>
            <a:ext cx="152876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C000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ELIMINATED</a:t>
            </a:r>
            <a:endParaRPr lang="en-US" sz="500" dirty="0"/>
          </a:p>
        </p:txBody>
      </p:sp>
      <p:sp>
        <p:nvSpPr>
          <p:cNvPr id="72" name="Text 61"/>
          <p:cNvSpPr/>
          <p:nvPr/>
        </p:nvSpPr>
        <p:spPr>
          <a:xfrm>
            <a:off x="3150394" y="3998351"/>
            <a:ext cx="52720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Pattern: Event-Driven Extension Layer | Latency Target: &lt;200ms per validation | Protocol: D365 Plugin + WebAPI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3925491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2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ENGINE SPECIFICATIONS</a:t>
            </a:r>
            <a:endParaRPr lang="en-US" sz="500" dirty="0"/>
          </a:p>
        </p:txBody>
      </p:sp>
      <p:sp>
        <p:nvSpPr>
          <p:cNvPr id="4" name="Text 1"/>
          <p:cNvSpPr/>
          <p:nvPr/>
        </p:nvSpPr>
        <p:spPr>
          <a:xfrm>
            <a:off x="342900" y="380405"/>
            <a:ext cx="392549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6-Engine Real-Time Validation Architecture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0" y="394329"/>
            <a:ext cx="2857500" cy="208955"/>
          </a:xfrm>
          <a:prstGeom prst="rect">
            <a:avLst/>
          </a:prstGeom>
          <a:solidFill>
            <a:srgbClr val="2D00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455944"/>
            <a:ext cx="64294" cy="85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9344" y="451479"/>
            <a:ext cx="2507456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ALL ENGINES FIRE DURING CONFIGURATION — LATENCY &lt;200ms</a:t>
            </a: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464344" y="867603"/>
            <a:ext cx="4179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ENGINE 01</a:t>
            </a:r>
            <a:endParaRPr lang="en-US" sz="450" dirty="0"/>
          </a:p>
        </p:txBody>
      </p:sp>
      <p:sp>
        <p:nvSpPr>
          <p:cNvPr id="9" name="Text 5"/>
          <p:cNvSpPr/>
          <p:nvPr/>
        </p:nvSpPr>
        <p:spPr>
          <a:xfrm>
            <a:off x="464344" y="1010478"/>
            <a:ext cx="251934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LEP Compliance Check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464344" y="1179054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TRIGGER</a:t>
            </a:r>
            <a:endParaRPr lang="en-US" sz="450" dirty="0"/>
          </a:p>
        </p:txBody>
      </p:sp>
      <p:sp>
        <p:nvSpPr>
          <p:cNvPr id="11" name="Shape 7"/>
          <p:cNvSpPr/>
          <p:nvPr/>
        </p:nvSpPr>
        <p:spPr>
          <a:xfrm>
            <a:off x="878681" y="1180840"/>
            <a:ext cx="685800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78681" y="1180840"/>
            <a:ext cx="685800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SKU_ADDED_TO_BOM</a:t>
            </a:r>
            <a:endParaRPr lang="en-US" sz="450" dirty="0"/>
          </a:p>
        </p:txBody>
      </p:sp>
      <p:sp>
        <p:nvSpPr>
          <p:cNvPr id="13" name="Text 9"/>
          <p:cNvSpPr/>
          <p:nvPr/>
        </p:nvSpPr>
        <p:spPr>
          <a:xfrm>
            <a:off x="1564481" y="1184411"/>
            <a:ext cx="203597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464344" y="1336216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INPUTS</a:t>
            </a:r>
            <a:endParaRPr lang="en-US" sz="450" dirty="0"/>
          </a:p>
        </p:txBody>
      </p:sp>
      <p:sp>
        <p:nvSpPr>
          <p:cNvPr id="15" name="Text 11"/>
          <p:cNvSpPr/>
          <p:nvPr/>
        </p:nvSpPr>
        <p:spPr>
          <a:xfrm>
            <a:off x="878681" y="1336216"/>
            <a:ext cx="198417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BOM, LEP matrix, geo-specific rules, customer tier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464344" y="1493379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OUTPUT</a:t>
            </a:r>
            <a:endParaRPr lang="en-US" sz="450" dirty="0"/>
          </a:p>
        </p:txBody>
      </p:sp>
      <p:sp>
        <p:nvSpPr>
          <p:cNvPr id="17" name="Text 13"/>
          <p:cNvSpPr/>
          <p:nvPr/>
        </p:nvSpPr>
        <p:spPr>
          <a:xfrm>
            <a:off x="878681" y="1493379"/>
            <a:ext cx="16752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PASS/FAIL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remediation steps if non-compliant</a:t>
            </a:r>
            <a:endParaRPr lang="en-US" sz="450" dirty="0"/>
          </a:p>
        </p:txBody>
      </p:sp>
      <p:sp>
        <p:nvSpPr>
          <p:cNvPr id="18" name="Text 14"/>
          <p:cNvSpPr/>
          <p:nvPr/>
        </p:nvSpPr>
        <p:spPr>
          <a:xfrm>
            <a:off x="3312300" y="867603"/>
            <a:ext cx="4179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ENGINE 02</a:t>
            </a:r>
            <a:endParaRPr lang="en-US" sz="450" dirty="0"/>
          </a:p>
        </p:txBody>
      </p:sp>
      <p:sp>
        <p:nvSpPr>
          <p:cNvPr id="19" name="Text 15"/>
          <p:cNvSpPr/>
          <p:nvPr/>
        </p:nvSpPr>
        <p:spPr>
          <a:xfrm>
            <a:off x="3312300" y="1010478"/>
            <a:ext cx="2519372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Year-1 ACV Phasing Validator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3312300" y="1179054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TRIGGER</a:t>
            </a:r>
            <a:endParaRPr lang="en-US" sz="450" dirty="0"/>
          </a:p>
        </p:txBody>
      </p:sp>
      <p:sp>
        <p:nvSpPr>
          <p:cNvPr id="21" name="Shape 17"/>
          <p:cNvSpPr/>
          <p:nvPr/>
        </p:nvSpPr>
        <p:spPr>
          <a:xfrm>
            <a:off x="3726638" y="1180840"/>
            <a:ext cx="646509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726638" y="1180840"/>
            <a:ext cx="646509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RAMP_CONFIGURED</a:t>
            </a:r>
            <a:endParaRPr lang="en-US" sz="450" dirty="0"/>
          </a:p>
        </p:txBody>
      </p:sp>
      <p:sp>
        <p:nvSpPr>
          <p:cNvPr id="23" name="Text 19"/>
          <p:cNvSpPr/>
          <p:nvPr/>
        </p:nvSpPr>
        <p:spPr>
          <a:xfrm>
            <a:off x="4373147" y="1184411"/>
            <a:ext cx="203597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3312300" y="1336216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INPUTS</a:t>
            </a:r>
            <a:endParaRPr lang="en-US" sz="450" dirty="0"/>
          </a:p>
        </p:txBody>
      </p:sp>
      <p:sp>
        <p:nvSpPr>
          <p:cNvPr id="25" name="Text 21"/>
          <p:cNvSpPr/>
          <p:nvPr/>
        </p:nvSpPr>
        <p:spPr>
          <a:xfrm>
            <a:off x="3726638" y="1336216"/>
            <a:ext cx="183594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schedule, Year-1 threshold (policy), total TCV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3312300" y="1493379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OUTPUT</a:t>
            </a:r>
            <a:endParaRPr lang="en-US" sz="450" dirty="0"/>
          </a:p>
        </p:txBody>
      </p:sp>
      <p:sp>
        <p:nvSpPr>
          <p:cNvPr id="27" name="Text 23"/>
          <p:cNvSpPr/>
          <p:nvPr/>
        </p:nvSpPr>
        <p:spPr>
          <a:xfrm>
            <a:off x="3726638" y="1493379"/>
            <a:ext cx="151447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Year-1 ACV %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warning if below threshold</a:t>
            </a:r>
            <a:endParaRPr lang="en-US" sz="450" dirty="0"/>
          </a:p>
        </p:txBody>
      </p:sp>
      <p:sp>
        <p:nvSpPr>
          <p:cNvPr id="28" name="Text 24"/>
          <p:cNvSpPr/>
          <p:nvPr/>
        </p:nvSpPr>
        <p:spPr>
          <a:xfrm>
            <a:off x="6160284" y="867603"/>
            <a:ext cx="4179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ENGINE 03</a:t>
            </a:r>
            <a:endParaRPr lang="en-US" sz="450" dirty="0"/>
          </a:p>
        </p:txBody>
      </p:sp>
      <p:sp>
        <p:nvSpPr>
          <p:cNvPr id="29" name="Text 25"/>
          <p:cNvSpPr/>
          <p:nvPr/>
        </p:nvSpPr>
        <p:spPr>
          <a:xfrm>
            <a:off x="6160284" y="1010478"/>
            <a:ext cx="251934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DHI Flag Preview (Plain Language)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6160284" y="1179054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TRIGGER</a:t>
            </a:r>
            <a:endParaRPr lang="en-US" sz="450" dirty="0"/>
          </a:p>
        </p:txBody>
      </p:sp>
      <p:sp>
        <p:nvSpPr>
          <p:cNvPr id="31" name="Shape 27"/>
          <p:cNvSpPr/>
          <p:nvPr/>
        </p:nvSpPr>
        <p:spPr>
          <a:xfrm>
            <a:off x="6574622" y="1180840"/>
            <a:ext cx="567928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574622" y="1180840"/>
            <a:ext cx="567928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DEAL_MODIFIED</a:t>
            </a:r>
            <a:endParaRPr lang="en-US" sz="450" dirty="0"/>
          </a:p>
        </p:txBody>
      </p:sp>
      <p:sp>
        <p:nvSpPr>
          <p:cNvPr id="33" name="Text 29"/>
          <p:cNvSpPr/>
          <p:nvPr/>
        </p:nvSpPr>
        <p:spPr>
          <a:xfrm>
            <a:off x="7142550" y="1184411"/>
            <a:ext cx="83581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(any field change)</a:t>
            </a:r>
            <a:endParaRPr lang="en-US" sz="500" dirty="0"/>
          </a:p>
        </p:txBody>
      </p:sp>
      <p:sp>
        <p:nvSpPr>
          <p:cNvPr id="34" name="Text 30"/>
          <p:cNvSpPr/>
          <p:nvPr/>
        </p:nvSpPr>
        <p:spPr>
          <a:xfrm>
            <a:off x="6160284" y="1336216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INPUTS</a:t>
            </a:r>
            <a:endParaRPr lang="en-US" sz="450" dirty="0"/>
          </a:p>
        </p:txBody>
      </p:sp>
      <p:sp>
        <p:nvSpPr>
          <p:cNvPr id="35" name="Text 31"/>
          <p:cNvSpPr/>
          <p:nvPr/>
        </p:nvSpPr>
        <p:spPr>
          <a:xfrm>
            <a:off x="6574622" y="1336216"/>
            <a:ext cx="190380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attributes, DHI rule set (12 flags), historical patterns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6160284" y="1493379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OUTPUT</a:t>
            </a:r>
            <a:endParaRPr lang="en-US" sz="450" dirty="0"/>
          </a:p>
        </p:txBody>
      </p:sp>
      <p:sp>
        <p:nvSpPr>
          <p:cNvPr id="37" name="Text 33"/>
          <p:cNvSpPr/>
          <p:nvPr/>
        </p:nvSpPr>
        <p:spPr>
          <a:xfrm>
            <a:off x="6574622" y="1493379"/>
            <a:ext cx="20395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FLAG LIST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plain language + resolution guidance per flag</a:t>
            </a:r>
            <a:endParaRPr lang="en-US" sz="450" dirty="0"/>
          </a:p>
        </p:txBody>
      </p:sp>
      <p:sp>
        <p:nvSpPr>
          <p:cNvPr id="38" name="Text 34"/>
          <p:cNvSpPr/>
          <p:nvPr/>
        </p:nvSpPr>
        <p:spPr>
          <a:xfrm>
            <a:off x="464344" y="3009109"/>
            <a:ext cx="4179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ENGINE 04</a:t>
            </a:r>
            <a:endParaRPr lang="en-US" sz="450" dirty="0"/>
          </a:p>
        </p:txBody>
      </p:sp>
      <p:sp>
        <p:nvSpPr>
          <p:cNvPr id="39" name="Text 35"/>
          <p:cNvSpPr/>
          <p:nvPr/>
        </p:nvSpPr>
        <p:spPr>
          <a:xfrm>
            <a:off x="464344" y="3151984"/>
            <a:ext cx="251934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ML Approval Score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464344" y="3320560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TRIGGER</a:t>
            </a:r>
            <a:endParaRPr lang="en-US" sz="450" dirty="0"/>
          </a:p>
        </p:txBody>
      </p:sp>
      <p:sp>
        <p:nvSpPr>
          <p:cNvPr id="41" name="Shape 37"/>
          <p:cNvSpPr/>
          <p:nvPr/>
        </p:nvSpPr>
        <p:spPr>
          <a:xfrm>
            <a:off x="878681" y="3322346"/>
            <a:ext cx="725091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878681" y="3322346"/>
            <a:ext cx="725091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ANY_CONFIG_CHANGE</a:t>
            </a:r>
            <a:endParaRPr lang="en-US" sz="450" dirty="0"/>
          </a:p>
        </p:txBody>
      </p:sp>
      <p:sp>
        <p:nvSpPr>
          <p:cNvPr id="43" name="Text 39"/>
          <p:cNvSpPr/>
          <p:nvPr/>
        </p:nvSpPr>
        <p:spPr>
          <a:xfrm>
            <a:off x="1603772" y="3325918"/>
            <a:ext cx="710803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(debounced 500ms)</a:t>
            </a:r>
            <a:endParaRPr lang="en-US" sz="500" dirty="0"/>
          </a:p>
        </p:txBody>
      </p:sp>
      <p:sp>
        <p:nvSpPr>
          <p:cNvPr id="44" name="Text 40"/>
          <p:cNvSpPr/>
          <p:nvPr/>
        </p:nvSpPr>
        <p:spPr>
          <a:xfrm>
            <a:off x="464344" y="3477723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INPUTS</a:t>
            </a:r>
            <a:endParaRPr lang="en-US" sz="450" dirty="0"/>
          </a:p>
        </p:txBody>
      </p:sp>
      <p:sp>
        <p:nvSpPr>
          <p:cNvPr id="45" name="Text 41"/>
          <p:cNvSpPr/>
          <p:nvPr/>
        </p:nvSpPr>
        <p:spPr>
          <a:xfrm>
            <a:off x="878681" y="3477723"/>
            <a:ext cx="2105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deal features, 18 months historical outcomes, DoA thresholds</a:t>
            </a:r>
            <a:endParaRPr lang="en-US" sz="500" dirty="0"/>
          </a:p>
        </p:txBody>
      </p:sp>
      <p:sp>
        <p:nvSpPr>
          <p:cNvPr id="46" name="Text 42"/>
          <p:cNvSpPr/>
          <p:nvPr/>
        </p:nvSpPr>
        <p:spPr>
          <a:xfrm>
            <a:off x="464344" y="3734898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OUTPUT</a:t>
            </a:r>
            <a:endParaRPr lang="en-US" sz="450" dirty="0"/>
          </a:p>
        </p:txBody>
      </p:sp>
      <p:sp>
        <p:nvSpPr>
          <p:cNvPr id="47" name="Text 43"/>
          <p:cNvSpPr/>
          <p:nvPr/>
        </p:nvSpPr>
        <p:spPr>
          <a:xfrm>
            <a:off x="878681" y="3734898"/>
            <a:ext cx="19216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PROBABILITY %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top 2–3 driving factors + approval tier</a:t>
            </a:r>
            <a:endParaRPr lang="en-US" sz="450" dirty="0"/>
          </a:p>
        </p:txBody>
      </p:sp>
      <p:sp>
        <p:nvSpPr>
          <p:cNvPr id="48" name="Text 44"/>
          <p:cNvSpPr/>
          <p:nvPr/>
        </p:nvSpPr>
        <p:spPr>
          <a:xfrm>
            <a:off x="3312300" y="3009109"/>
            <a:ext cx="4179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ENGINE 05</a:t>
            </a:r>
            <a:endParaRPr lang="en-US" sz="450" dirty="0"/>
          </a:p>
        </p:txBody>
      </p:sp>
      <p:sp>
        <p:nvSpPr>
          <p:cNvPr id="49" name="Text 45"/>
          <p:cNvSpPr/>
          <p:nvPr/>
        </p:nvSpPr>
        <p:spPr>
          <a:xfrm>
            <a:off x="3312300" y="3151984"/>
            <a:ext cx="2519372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SKU Handling (Inline Resolution)</a:t>
            </a:r>
            <a:endParaRPr lang="en-US" sz="600" dirty="0"/>
          </a:p>
        </p:txBody>
      </p:sp>
      <p:sp>
        <p:nvSpPr>
          <p:cNvPr id="50" name="Text 46"/>
          <p:cNvSpPr/>
          <p:nvPr/>
        </p:nvSpPr>
        <p:spPr>
          <a:xfrm>
            <a:off x="3312300" y="3320560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TRIGGER</a:t>
            </a:r>
            <a:endParaRPr lang="en-US" sz="450" dirty="0"/>
          </a:p>
        </p:txBody>
      </p:sp>
      <p:sp>
        <p:nvSpPr>
          <p:cNvPr id="51" name="Shape 47"/>
          <p:cNvSpPr/>
          <p:nvPr/>
        </p:nvSpPr>
        <p:spPr>
          <a:xfrm>
            <a:off x="3726638" y="3322346"/>
            <a:ext cx="685800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3726638" y="3322346"/>
            <a:ext cx="685800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UNRECOGNIZED_SKU</a:t>
            </a:r>
            <a:endParaRPr lang="en-US" sz="450" dirty="0"/>
          </a:p>
        </p:txBody>
      </p:sp>
      <p:sp>
        <p:nvSpPr>
          <p:cNvPr id="53" name="Text 49"/>
          <p:cNvSpPr/>
          <p:nvPr/>
        </p:nvSpPr>
        <p:spPr>
          <a:xfrm>
            <a:off x="4412438" y="3325918"/>
            <a:ext cx="10894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endParaRPr lang="en-US" sz="500" dirty="0"/>
          </a:p>
        </p:txBody>
      </p:sp>
      <p:sp>
        <p:nvSpPr>
          <p:cNvPr id="54" name="Shape 50"/>
          <p:cNvSpPr/>
          <p:nvPr/>
        </p:nvSpPr>
        <p:spPr>
          <a:xfrm>
            <a:off x="4521380" y="3322346"/>
            <a:ext cx="607219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4521380" y="3322346"/>
            <a:ext cx="607219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DEPRECATED_SKU</a:t>
            </a:r>
            <a:endParaRPr lang="en-US" sz="450" dirty="0"/>
          </a:p>
        </p:txBody>
      </p:sp>
      <p:sp>
        <p:nvSpPr>
          <p:cNvPr id="56" name="Text 52"/>
          <p:cNvSpPr/>
          <p:nvPr/>
        </p:nvSpPr>
        <p:spPr>
          <a:xfrm>
            <a:off x="3312300" y="3477723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INPUTS</a:t>
            </a:r>
            <a:endParaRPr lang="en-US" sz="450" dirty="0"/>
          </a:p>
        </p:txBody>
      </p:sp>
      <p:sp>
        <p:nvSpPr>
          <p:cNvPr id="57" name="Text 53"/>
          <p:cNvSpPr/>
          <p:nvPr/>
        </p:nvSpPr>
        <p:spPr>
          <a:xfrm>
            <a:off x="3726638" y="3477723"/>
            <a:ext cx="192702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catalog, AI classification model, transition mappings</a:t>
            </a:r>
            <a:endParaRPr lang="en-US" sz="500" dirty="0"/>
          </a:p>
        </p:txBody>
      </p:sp>
      <p:sp>
        <p:nvSpPr>
          <p:cNvPr id="58" name="Text 54"/>
          <p:cNvSpPr/>
          <p:nvPr/>
        </p:nvSpPr>
        <p:spPr>
          <a:xfrm>
            <a:off x="3312300" y="3634885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OUTPUT</a:t>
            </a:r>
            <a:endParaRPr lang="en-US" sz="450" dirty="0"/>
          </a:p>
        </p:txBody>
      </p:sp>
      <p:sp>
        <p:nvSpPr>
          <p:cNvPr id="59" name="Text 55"/>
          <p:cNvSpPr/>
          <p:nvPr/>
        </p:nvSpPr>
        <p:spPr>
          <a:xfrm>
            <a:off x="3726638" y="3634885"/>
            <a:ext cx="18198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SUGGESTED MAP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one-click resolve (no ServiceNow)</a:t>
            </a:r>
            <a:endParaRPr lang="en-US" sz="450" dirty="0"/>
          </a:p>
        </p:txBody>
      </p:sp>
      <p:sp>
        <p:nvSpPr>
          <p:cNvPr id="60" name="Text 56"/>
          <p:cNvSpPr/>
          <p:nvPr/>
        </p:nvSpPr>
        <p:spPr>
          <a:xfrm>
            <a:off x="6160284" y="3009109"/>
            <a:ext cx="4179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ENGINE 06</a:t>
            </a:r>
            <a:endParaRPr lang="en-US" sz="450" dirty="0"/>
          </a:p>
        </p:txBody>
      </p:sp>
      <p:sp>
        <p:nvSpPr>
          <p:cNvPr id="61" name="Text 57"/>
          <p:cNvSpPr/>
          <p:nvPr/>
        </p:nvSpPr>
        <p:spPr>
          <a:xfrm>
            <a:off x="6160284" y="3151984"/>
            <a:ext cx="251934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ASC 606 Validation Layer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6160284" y="3320560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TRIGGER</a:t>
            </a:r>
            <a:endParaRPr lang="en-US" sz="450" dirty="0"/>
          </a:p>
        </p:txBody>
      </p:sp>
      <p:sp>
        <p:nvSpPr>
          <p:cNvPr id="63" name="Shape 59"/>
          <p:cNvSpPr/>
          <p:nvPr/>
        </p:nvSpPr>
        <p:spPr>
          <a:xfrm>
            <a:off x="6574622" y="3322346"/>
            <a:ext cx="960834" cy="100013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6574622" y="3322346"/>
            <a:ext cx="960834" cy="100013"/>
          </a:xfrm>
          <a:prstGeom prst="rect">
            <a:avLst/>
          </a:prstGeom>
          <a:noFill/>
          <a:ln/>
        </p:spPr>
        <p:txBody>
          <a:bodyPr wrap="none" lIns="34036" tIns="8509" rIns="34036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4A00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NON_PERPETUAL_SKU_ADDED</a:t>
            </a:r>
            <a:endParaRPr lang="en-US" sz="450" dirty="0"/>
          </a:p>
        </p:txBody>
      </p:sp>
      <p:sp>
        <p:nvSpPr>
          <p:cNvPr id="65" name="Text 61"/>
          <p:cNvSpPr/>
          <p:nvPr/>
        </p:nvSpPr>
        <p:spPr>
          <a:xfrm>
            <a:off x="7535456" y="3325918"/>
            <a:ext cx="203597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  <a:endParaRPr lang="en-US" sz="500" dirty="0"/>
          </a:p>
        </p:txBody>
      </p:sp>
      <p:sp>
        <p:nvSpPr>
          <p:cNvPr id="66" name="Text 62"/>
          <p:cNvSpPr/>
          <p:nvPr/>
        </p:nvSpPr>
        <p:spPr>
          <a:xfrm>
            <a:off x="6160284" y="3477723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INPUTS</a:t>
            </a:r>
            <a:endParaRPr lang="en-US" sz="450" dirty="0"/>
          </a:p>
        </p:txBody>
      </p:sp>
      <p:sp>
        <p:nvSpPr>
          <p:cNvPr id="67" name="Text 63"/>
          <p:cNvSpPr/>
          <p:nvPr/>
        </p:nvSpPr>
        <p:spPr>
          <a:xfrm>
            <a:off x="6574622" y="3477723"/>
            <a:ext cx="2105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 model, SSP tables, PO class, variable consideration rules</a:t>
            </a:r>
            <a:endParaRPr lang="en-US" sz="500" dirty="0"/>
          </a:p>
        </p:txBody>
      </p:sp>
      <p:sp>
        <p:nvSpPr>
          <p:cNvPr id="68" name="Text 64"/>
          <p:cNvSpPr/>
          <p:nvPr/>
        </p:nvSpPr>
        <p:spPr>
          <a:xfrm>
            <a:off x="6160284" y="3734898"/>
            <a:ext cx="371475" cy="92869"/>
          </a:xfrm>
          <a:prstGeom prst="rect">
            <a:avLst/>
          </a:prstGeom>
          <a:noFill/>
          <a:ln/>
        </p:spPr>
        <p:txBody>
          <a:bodyPr wrap="none" lIns="0" tIns="850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dirty="0">
                <a:solidFill>
                  <a:srgbClr val="999999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OUTPUT</a:t>
            </a:r>
            <a:endParaRPr lang="en-US" sz="450" dirty="0"/>
          </a:p>
        </p:txBody>
      </p:sp>
      <p:sp>
        <p:nvSpPr>
          <p:cNvPr id="69" name="Text 65"/>
          <p:cNvSpPr/>
          <p:nvPr/>
        </p:nvSpPr>
        <p:spPr>
          <a:xfrm>
            <a:off x="6574622" y="3734898"/>
            <a:ext cx="206633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450" dirty="0">
                <a:solidFill>
                  <a:srgbClr val="1A6B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COMPLIANT/WARN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SSP allocation preview + PO class check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4673798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2" dirty="0">
                <a:solidFill>
                  <a:srgbClr val="A100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INTEGRATION &amp; DEPLOYMENT</a:t>
            </a:r>
            <a:endParaRPr lang="en-US" sz="500" dirty="0"/>
          </a:p>
        </p:txBody>
      </p:sp>
      <p:sp>
        <p:nvSpPr>
          <p:cNvPr id="4" name="Text 1"/>
          <p:cNvSpPr/>
          <p:nvPr/>
        </p:nvSpPr>
        <p:spPr>
          <a:xfrm>
            <a:off x="342900" y="380405"/>
            <a:ext cx="4673798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A1A1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Integration, Approval Routing &amp; Rollout Plan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42900" y="746159"/>
            <a:ext cx="2286000" cy="137517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2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INTEGRATION PATTERN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342900" y="969401"/>
            <a:ext cx="2286000" cy="447880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28625" y="1040839"/>
            <a:ext cx="200025" cy="200025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1" y="1097989"/>
            <a:ext cx="64294" cy="85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0088" y="1040839"/>
            <a:ext cx="184308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D365 Plugin SDK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700088" y="1151567"/>
            <a:ext cx="1843088" cy="17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777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Pre-operation plugin on Quote Line entity — intercepts config events before commit</a:t>
            </a:r>
            <a:endParaRPr lang="en-US" sz="450" dirty="0"/>
          </a:p>
        </p:txBody>
      </p:sp>
      <p:sp>
        <p:nvSpPr>
          <p:cNvPr id="11" name="Shape 7"/>
          <p:cNvSpPr/>
          <p:nvPr/>
        </p:nvSpPr>
        <p:spPr>
          <a:xfrm>
            <a:off x="342900" y="1460143"/>
            <a:ext cx="2286000" cy="447880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8625" y="1531581"/>
            <a:ext cx="200025" cy="200025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588731"/>
            <a:ext cx="85725" cy="857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0088" y="1531581"/>
            <a:ext cx="184308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D365 WebAPI (OData v4)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700088" y="1642309"/>
            <a:ext cx="1843088" cy="17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777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Read/write deal attributes, BOM, pricing — CPQ remains source of truth</a:t>
            </a:r>
            <a:endParaRPr lang="en-US" sz="450" dirty="0"/>
          </a:p>
        </p:txBody>
      </p:sp>
      <p:sp>
        <p:nvSpPr>
          <p:cNvPr id="16" name="Shape 11"/>
          <p:cNvSpPr/>
          <p:nvPr/>
        </p:nvSpPr>
        <p:spPr>
          <a:xfrm>
            <a:off x="342900" y="1950886"/>
            <a:ext cx="2286000" cy="447880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28625" y="2022323"/>
            <a:ext cx="200025" cy="200025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1" y="2079473"/>
            <a:ext cx="64294" cy="857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0088" y="2022323"/>
            <a:ext cx="184308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Event Bus (Azure Service Bus)</a:t>
            </a:r>
            <a:endParaRPr lang="en-US" sz="550" dirty="0"/>
          </a:p>
        </p:txBody>
      </p:sp>
      <p:sp>
        <p:nvSpPr>
          <p:cNvPr id="20" name="Text 14"/>
          <p:cNvSpPr/>
          <p:nvPr/>
        </p:nvSpPr>
        <p:spPr>
          <a:xfrm>
            <a:off x="700088" y="2133051"/>
            <a:ext cx="1843088" cy="17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777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 engine orchestration — fan-out to 6 engines, aggregate &lt;200ms</a:t>
            </a:r>
            <a:endParaRPr lang="en-US" sz="450" dirty="0"/>
          </a:p>
        </p:txBody>
      </p:sp>
      <p:sp>
        <p:nvSpPr>
          <p:cNvPr id="21" name="Shape 15"/>
          <p:cNvSpPr/>
          <p:nvPr/>
        </p:nvSpPr>
        <p:spPr>
          <a:xfrm>
            <a:off x="342900" y="2441628"/>
            <a:ext cx="2286000" cy="447880"/>
          </a:xfrm>
          <a:prstGeom prst="rect">
            <a:avLst/>
          </a:prstGeom>
          <a:solidFill>
            <a:srgbClr val="FAFAFA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28625" y="2513065"/>
            <a:ext cx="200025" cy="200025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570215"/>
            <a:ext cx="85725" cy="857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0088" y="2513065"/>
            <a:ext cx="184308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Model Endpoint</a:t>
            </a:r>
            <a:endParaRPr lang="en-US" sz="550" dirty="0"/>
          </a:p>
        </p:txBody>
      </p:sp>
      <p:sp>
        <p:nvSpPr>
          <p:cNvPr id="25" name="Text 18"/>
          <p:cNvSpPr/>
          <p:nvPr/>
        </p:nvSpPr>
        <p:spPr>
          <a:xfrm>
            <a:off x="700088" y="2623793"/>
            <a:ext cx="1843088" cy="17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777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ML Managed Endpoint — model v2.4, 47 features, retrained monthly</a:t>
            </a:r>
            <a:endParaRPr lang="en-US" sz="450" dirty="0"/>
          </a:p>
        </p:txBody>
      </p:sp>
      <p:sp>
        <p:nvSpPr>
          <p:cNvPr id="26" name="Shape 19"/>
          <p:cNvSpPr/>
          <p:nvPr/>
        </p:nvSpPr>
        <p:spPr>
          <a:xfrm>
            <a:off x="342900" y="4293394"/>
            <a:ext cx="2286000" cy="650081"/>
          </a:xfrm>
          <a:prstGeom prst="rect">
            <a:avLst/>
          </a:prstGeom>
          <a:solidFill>
            <a:srgbClr val="2D00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04122"/>
            <a:ext cx="75009" cy="642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60784" y="4393406"/>
            <a:ext cx="85010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FULL AUDIT TRAIL</a:t>
            </a:r>
            <a:endParaRPr lang="en-US" sz="450" dirty="0"/>
          </a:p>
        </p:txBody>
      </p:sp>
      <p:sp>
        <p:nvSpPr>
          <p:cNvPr id="29" name="Text 21"/>
          <p:cNvSpPr/>
          <p:nvPr/>
        </p:nvSpPr>
        <p:spPr>
          <a:xfrm>
            <a:off x="457200" y="4521994"/>
            <a:ext cx="20574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engine fire logged: </a:t>
            </a: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Actor</a:t>
            </a:r>
            <a:r>
              <a:rPr lang="en-US" sz="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Timestamp</a:t>
            </a:r>
            <a:r>
              <a:rPr lang="en-US" sz="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D365 Reference</a:t>
            </a:r>
            <a:r>
              <a:rPr lang="en-US" sz="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Hash</a:t>
            </a:r>
            <a:r>
              <a:rPr lang="en-US" sz="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</a:t>
            </a:r>
            <a:r>
              <a:rPr lang="en-US" sz="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Immutable append-only store for DoA compliance.</a:t>
            </a:r>
            <a:endParaRPr lang="en-US" sz="500" dirty="0"/>
          </a:p>
        </p:txBody>
      </p:sp>
      <p:sp>
        <p:nvSpPr>
          <p:cNvPr id="30" name="Text 22"/>
          <p:cNvSpPr/>
          <p:nvPr/>
        </p:nvSpPr>
        <p:spPr>
          <a:xfrm>
            <a:off x="2921794" y="746159"/>
            <a:ext cx="3443288" cy="137517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2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DUAL APPROVAL ROUTING</a:t>
            </a:r>
            <a:endParaRPr lang="en-US" sz="500" dirty="0"/>
          </a:p>
        </p:txBody>
      </p:sp>
      <p:sp>
        <p:nvSpPr>
          <p:cNvPr id="31" name="Shape 23"/>
          <p:cNvSpPr/>
          <p:nvPr/>
        </p:nvSpPr>
        <p:spPr>
          <a:xfrm>
            <a:off x="2921794" y="955114"/>
            <a:ext cx="3443288" cy="353616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3021806" y="1026551"/>
            <a:ext cx="32432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Quote Configuration Complete</a:t>
            </a:r>
            <a:endParaRPr lang="en-US" sz="550" dirty="0"/>
          </a:p>
        </p:txBody>
      </p:sp>
      <p:sp>
        <p:nvSpPr>
          <p:cNvPr id="33" name="Text 25"/>
          <p:cNvSpPr/>
          <p:nvPr/>
        </p:nvSpPr>
        <p:spPr>
          <a:xfrm>
            <a:off x="3021806" y="1137279"/>
            <a:ext cx="3243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777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6 engines have fired — results aggregated</a:t>
            </a:r>
            <a:endParaRPr lang="en-US" sz="450" dirty="0"/>
          </a:p>
        </p:txBody>
      </p:sp>
      <p:sp>
        <p:nvSpPr>
          <p:cNvPr id="34" name="Text 26"/>
          <p:cNvSpPr/>
          <p:nvPr/>
        </p:nvSpPr>
        <p:spPr>
          <a:xfrm>
            <a:off x="2921794" y="1351592"/>
            <a:ext cx="3443288" cy="116086"/>
          </a:xfrm>
          <a:prstGeom prst="rect">
            <a:avLst/>
          </a:prstGeom>
          <a:noFill/>
          <a:ln/>
        </p:spPr>
        <p:txBody>
          <a:bodyPr wrap="square" lIns="0" tIns="17018" rIns="0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</a:t>
            </a:r>
            <a:endParaRPr lang="en-US" sz="450" dirty="0"/>
          </a:p>
        </p:txBody>
      </p:sp>
      <p:sp>
        <p:nvSpPr>
          <p:cNvPr id="35" name="Shape 27"/>
          <p:cNvSpPr/>
          <p:nvPr/>
        </p:nvSpPr>
        <p:spPr>
          <a:xfrm>
            <a:off x="2921794" y="1524828"/>
            <a:ext cx="3443288" cy="367903"/>
          </a:xfrm>
          <a:prstGeom prst="rect">
            <a:avLst/>
          </a:prstGeom>
          <a:solidFill>
            <a:srgbClr val="FFFFFF"/>
          </a:solidFill>
          <a:ln w="18288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3021806" y="1596265"/>
            <a:ext cx="32432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4A00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Score ≥ Threshold?</a:t>
            </a:r>
            <a:endParaRPr lang="en-US" sz="550" dirty="0"/>
          </a:p>
        </p:txBody>
      </p:sp>
      <p:sp>
        <p:nvSpPr>
          <p:cNvPr id="37" name="Text 29"/>
          <p:cNvSpPr/>
          <p:nvPr/>
        </p:nvSpPr>
        <p:spPr>
          <a:xfrm>
            <a:off x="3021806" y="1706993"/>
            <a:ext cx="3243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Threshold set per region + deal size tier</a:t>
            </a:r>
            <a:endParaRPr lang="en-US" sz="450" dirty="0"/>
          </a:p>
        </p:txBody>
      </p:sp>
      <p:sp>
        <p:nvSpPr>
          <p:cNvPr id="38" name="Text 30"/>
          <p:cNvSpPr/>
          <p:nvPr/>
        </p:nvSpPr>
        <p:spPr>
          <a:xfrm>
            <a:off x="2921794" y="1921306"/>
            <a:ext cx="3443288" cy="116086"/>
          </a:xfrm>
          <a:prstGeom prst="rect">
            <a:avLst/>
          </a:prstGeom>
          <a:noFill/>
          <a:ln/>
        </p:spPr>
        <p:txBody>
          <a:bodyPr wrap="square" lIns="0" tIns="17018" rIns="0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Decision Gate ▼</a:t>
            </a:r>
            <a:endParaRPr lang="en-US" sz="450" dirty="0"/>
          </a:p>
        </p:txBody>
      </p:sp>
      <p:sp>
        <p:nvSpPr>
          <p:cNvPr id="39" name="Shape 31"/>
          <p:cNvSpPr/>
          <p:nvPr/>
        </p:nvSpPr>
        <p:spPr>
          <a:xfrm>
            <a:off x="2921794" y="2094542"/>
            <a:ext cx="1685925" cy="605042"/>
          </a:xfrm>
          <a:prstGeom prst="rect">
            <a:avLst/>
          </a:prstGeom>
          <a:solidFill>
            <a:srgbClr val="E8FFE8"/>
          </a:solidFill>
          <a:ln w="9144">
            <a:solidFill>
              <a:srgbClr val="88C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3021806" y="2180267"/>
            <a:ext cx="14859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1A6B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AUTO-APPROVE</a:t>
            </a:r>
            <a:endParaRPr lang="en-US" sz="450" dirty="0"/>
          </a:p>
        </p:txBody>
      </p:sp>
      <p:sp>
        <p:nvSpPr>
          <p:cNvPr id="41" name="Text 33"/>
          <p:cNvSpPr/>
          <p:nvPr/>
        </p:nvSpPr>
        <p:spPr>
          <a:xfrm>
            <a:off x="3021806" y="2294567"/>
            <a:ext cx="14859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Instant Approval</a:t>
            </a:r>
            <a:endParaRPr lang="en-US" sz="550" dirty="0"/>
          </a:p>
        </p:txBody>
      </p:sp>
      <p:sp>
        <p:nvSpPr>
          <p:cNvPr id="42" name="Text 34"/>
          <p:cNvSpPr/>
          <p:nvPr/>
        </p:nvSpPr>
        <p:spPr>
          <a:xfrm>
            <a:off x="3021806" y="2424940"/>
            <a:ext cx="1285456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≥ threshold + zero critical DHI flags.</a:t>
            </a:r>
            <a:endParaRPr lang="en-US" sz="450" dirty="0"/>
          </a:p>
        </p:txBody>
      </p:sp>
      <p:sp>
        <p:nvSpPr>
          <p:cNvPr id="43" name="Text 35"/>
          <p:cNvSpPr/>
          <p:nvPr/>
        </p:nvSpPr>
        <p:spPr>
          <a:xfrm>
            <a:off x="3021806" y="2514935"/>
            <a:ext cx="68937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Logged with full audit.</a:t>
            </a:r>
            <a:endParaRPr lang="en-US" sz="450" dirty="0"/>
          </a:p>
        </p:txBody>
      </p:sp>
      <p:sp>
        <p:nvSpPr>
          <p:cNvPr id="44" name="Shape 36"/>
          <p:cNvSpPr/>
          <p:nvPr/>
        </p:nvSpPr>
        <p:spPr>
          <a:xfrm>
            <a:off x="3711178" y="2511363"/>
            <a:ext cx="416123" cy="91083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3711178" y="2511363"/>
            <a:ext cx="416123" cy="9108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~0s latency</a:t>
            </a:r>
            <a:endParaRPr lang="en-US" sz="400" dirty="0"/>
          </a:p>
        </p:txBody>
      </p:sp>
      <p:sp>
        <p:nvSpPr>
          <p:cNvPr id="46" name="Shape 38"/>
          <p:cNvSpPr/>
          <p:nvPr/>
        </p:nvSpPr>
        <p:spPr>
          <a:xfrm>
            <a:off x="4679156" y="2094542"/>
            <a:ext cx="1685925" cy="605042"/>
          </a:xfrm>
          <a:prstGeom prst="rect">
            <a:avLst/>
          </a:prstGeom>
          <a:solidFill>
            <a:srgbClr val="FFF8E8"/>
          </a:solidFill>
          <a:ln w="9144">
            <a:solidFill>
              <a:srgbClr val="CC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4779169" y="2180267"/>
            <a:ext cx="14859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8B6914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HUMAN REVIEW</a:t>
            </a:r>
            <a:endParaRPr lang="en-US" sz="450" dirty="0"/>
          </a:p>
        </p:txBody>
      </p:sp>
      <p:sp>
        <p:nvSpPr>
          <p:cNvPr id="48" name="Text 40"/>
          <p:cNvSpPr/>
          <p:nvPr/>
        </p:nvSpPr>
        <p:spPr>
          <a:xfrm>
            <a:off x="4779169" y="2294567"/>
            <a:ext cx="14859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DoA Tier Routing</a:t>
            </a:r>
            <a:endParaRPr lang="en-US" sz="550" dirty="0"/>
          </a:p>
        </p:txBody>
      </p:sp>
      <p:sp>
        <p:nvSpPr>
          <p:cNvPr id="49" name="Text 41"/>
          <p:cNvSpPr/>
          <p:nvPr/>
        </p:nvSpPr>
        <p:spPr>
          <a:xfrm>
            <a:off x="4779169" y="2424940"/>
            <a:ext cx="1355527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Routed to correct tier based on deal value +</a:t>
            </a:r>
            <a:endParaRPr lang="en-US" sz="450" dirty="0"/>
          </a:p>
        </p:txBody>
      </p:sp>
      <p:sp>
        <p:nvSpPr>
          <p:cNvPr id="50" name="Text 42"/>
          <p:cNvSpPr/>
          <p:nvPr/>
        </p:nvSpPr>
        <p:spPr>
          <a:xfrm>
            <a:off x="6134695" y="2424940"/>
            <a:ext cx="12858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risk.</a:t>
            </a:r>
            <a:endParaRPr lang="en-US" sz="450" dirty="0"/>
          </a:p>
        </p:txBody>
      </p:sp>
      <p:sp>
        <p:nvSpPr>
          <p:cNvPr id="51" name="Shape 43"/>
          <p:cNvSpPr/>
          <p:nvPr/>
        </p:nvSpPr>
        <p:spPr>
          <a:xfrm>
            <a:off x="4779169" y="2511363"/>
            <a:ext cx="382191" cy="91083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4779169" y="2511363"/>
            <a:ext cx="382191" cy="91083"/>
          </a:xfrm>
          <a:prstGeom prst="rect">
            <a:avLst/>
          </a:prstGeom>
          <a:noFill/>
          <a:ln/>
        </p:spPr>
        <p:txBody>
          <a:bodyPr wrap="none" lIns="25527" tIns="8509" rIns="25527" bIns="8509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1/2/3</a:t>
            </a:r>
            <a:endParaRPr lang="en-US" sz="400" dirty="0"/>
          </a:p>
        </p:txBody>
      </p:sp>
      <p:sp>
        <p:nvSpPr>
          <p:cNvPr id="53" name="Text 45"/>
          <p:cNvSpPr/>
          <p:nvPr/>
        </p:nvSpPr>
        <p:spPr>
          <a:xfrm>
            <a:off x="5161359" y="2514935"/>
            <a:ext cx="498277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path.</a:t>
            </a:r>
            <a:endParaRPr lang="en-US" sz="450" dirty="0"/>
          </a:p>
        </p:txBody>
      </p:sp>
      <p:sp>
        <p:nvSpPr>
          <p:cNvPr id="54" name="Text 46"/>
          <p:cNvSpPr/>
          <p:nvPr/>
        </p:nvSpPr>
        <p:spPr>
          <a:xfrm>
            <a:off x="2921794" y="2742447"/>
            <a:ext cx="3443288" cy="116086"/>
          </a:xfrm>
          <a:prstGeom prst="rect">
            <a:avLst/>
          </a:prstGeom>
          <a:noFill/>
          <a:ln/>
        </p:spPr>
        <p:txBody>
          <a:bodyPr wrap="square" lIns="0" tIns="17018" rIns="0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AAAA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</a:t>
            </a:r>
            <a:endParaRPr lang="en-US" sz="450" dirty="0"/>
          </a:p>
        </p:txBody>
      </p:sp>
      <p:sp>
        <p:nvSpPr>
          <p:cNvPr id="55" name="Shape 47"/>
          <p:cNvSpPr/>
          <p:nvPr/>
        </p:nvSpPr>
        <p:spPr>
          <a:xfrm>
            <a:off x="2921794" y="2915682"/>
            <a:ext cx="3443288" cy="353616"/>
          </a:xfrm>
          <a:prstGeom prst="rect">
            <a:avLst/>
          </a:prstGeom>
          <a:solidFill>
            <a:srgbClr val="F4ECFF"/>
          </a:solidFill>
          <a:ln w="9144">
            <a:solidFill>
              <a:srgbClr val="D9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3021806" y="2987120"/>
            <a:ext cx="32432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4A00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Approval Recorded in D365 CPQ</a:t>
            </a:r>
            <a:endParaRPr lang="en-US" sz="550" dirty="0"/>
          </a:p>
        </p:txBody>
      </p:sp>
      <p:sp>
        <p:nvSpPr>
          <p:cNvPr id="57" name="Text 49"/>
          <p:cNvSpPr/>
          <p:nvPr/>
        </p:nvSpPr>
        <p:spPr>
          <a:xfrm>
            <a:off x="3021806" y="3097848"/>
            <a:ext cx="3243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777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of record updated — deal advances to contracting</a:t>
            </a:r>
            <a:endParaRPr lang="en-US" sz="450" dirty="0"/>
          </a:p>
        </p:txBody>
      </p:sp>
      <p:sp>
        <p:nvSpPr>
          <p:cNvPr id="58" name="Text 50"/>
          <p:cNvSpPr/>
          <p:nvPr/>
        </p:nvSpPr>
        <p:spPr>
          <a:xfrm>
            <a:off x="6657975" y="746159"/>
            <a:ext cx="2143125" cy="137517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2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90-DAY PHASED ROLLOUT</a:t>
            </a:r>
            <a:endParaRPr lang="en-US" sz="500" dirty="0"/>
          </a:p>
        </p:txBody>
      </p:sp>
      <p:sp>
        <p:nvSpPr>
          <p:cNvPr id="59" name="Text 51"/>
          <p:cNvSpPr/>
          <p:nvPr/>
        </p:nvSpPr>
        <p:spPr>
          <a:xfrm>
            <a:off x="7000875" y="1055126"/>
            <a:ext cx="180022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DAYS 1–30</a:t>
            </a:r>
            <a:endParaRPr lang="en-US" sz="500" dirty="0"/>
          </a:p>
        </p:txBody>
      </p:sp>
      <p:sp>
        <p:nvSpPr>
          <p:cNvPr id="60" name="Text 52"/>
          <p:cNvSpPr/>
          <p:nvPr/>
        </p:nvSpPr>
        <p:spPr>
          <a:xfrm>
            <a:off x="7000875" y="1164068"/>
            <a:ext cx="180022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DACH Pilot</a:t>
            </a:r>
            <a:endParaRPr lang="en-US" sz="600" dirty="0"/>
          </a:p>
        </p:txBody>
      </p:sp>
      <p:sp>
        <p:nvSpPr>
          <p:cNvPr id="61" name="Text 53"/>
          <p:cNvSpPr/>
          <p:nvPr/>
        </p:nvSpPr>
        <p:spPr>
          <a:xfrm>
            <a:off x="7000875" y="1290870"/>
            <a:ext cx="1800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engines 01–04 to DACH region. 50 AEs. Validate &lt;200ms latency. Baseline rejection rate.</a:t>
            </a:r>
            <a:endParaRPr lang="en-US" sz="500" dirty="0"/>
          </a:p>
        </p:txBody>
      </p:sp>
      <p:sp>
        <p:nvSpPr>
          <p:cNvPr id="62" name="Text 54"/>
          <p:cNvSpPr/>
          <p:nvPr/>
        </p:nvSpPr>
        <p:spPr>
          <a:xfrm>
            <a:off x="7000875" y="1669489"/>
            <a:ext cx="180022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DAYS 31–60</a:t>
            </a:r>
            <a:endParaRPr lang="en-US" sz="500" dirty="0"/>
          </a:p>
        </p:txBody>
      </p:sp>
      <p:sp>
        <p:nvSpPr>
          <p:cNvPr id="63" name="Text 55"/>
          <p:cNvSpPr/>
          <p:nvPr/>
        </p:nvSpPr>
        <p:spPr>
          <a:xfrm>
            <a:off x="7000875" y="1778431"/>
            <a:ext cx="180022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 Expansion</a:t>
            </a:r>
            <a:endParaRPr lang="en-US" sz="600" dirty="0"/>
          </a:p>
        </p:txBody>
      </p:sp>
      <p:sp>
        <p:nvSpPr>
          <p:cNvPr id="64" name="Text 56"/>
          <p:cNvSpPr/>
          <p:nvPr/>
        </p:nvSpPr>
        <p:spPr>
          <a:xfrm>
            <a:off x="7000875" y="1905233"/>
            <a:ext cx="1800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engines 05–06. Expand to NA region. Enable auto-approval path. Customer Portal beta.</a:t>
            </a:r>
            <a:endParaRPr lang="en-US" sz="500" dirty="0"/>
          </a:p>
        </p:txBody>
      </p:sp>
      <p:sp>
        <p:nvSpPr>
          <p:cNvPr id="65" name="Text 57"/>
          <p:cNvSpPr/>
          <p:nvPr/>
        </p:nvSpPr>
        <p:spPr>
          <a:xfrm>
            <a:off x="7000875" y="2283851"/>
            <a:ext cx="1800225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A100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DAYS 61–90</a:t>
            </a:r>
            <a:endParaRPr lang="en-US" sz="500" dirty="0"/>
          </a:p>
        </p:txBody>
      </p:sp>
      <p:sp>
        <p:nvSpPr>
          <p:cNvPr id="66" name="Text 58"/>
          <p:cNvSpPr/>
          <p:nvPr/>
        </p:nvSpPr>
        <p:spPr>
          <a:xfrm>
            <a:off x="7000875" y="2392793"/>
            <a:ext cx="1800225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A1A1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Rollout</a:t>
            </a:r>
            <a:endParaRPr lang="en-US" sz="600" dirty="0"/>
          </a:p>
        </p:txBody>
      </p:sp>
      <p:sp>
        <p:nvSpPr>
          <p:cNvPr id="67" name="Text 59"/>
          <p:cNvSpPr/>
          <p:nvPr/>
        </p:nvSpPr>
        <p:spPr>
          <a:xfrm>
            <a:off x="7000875" y="2519595"/>
            <a:ext cx="1800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regions live. Full DoA automation. ServiceNow decommission. ML model v3.0 trained on pilot data.</a:t>
            </a:r>
            <a:endParaRPr lang="en-US" sz="500" dirty="0"/>
          </a:p>
        </p:txBody>
      </p:sp>
      <p:sp>
        <p:nvSpPr>
          <p:cNvPr id="68" name="Shape 60"/>
          <p:cNvSpPr/>
          <p:nvPr/>
        </p:nvSpPr>
        <p:spPr>
          <a:xfrm>
            <a:off x="6657975" y="4186238"/>
            <a:ext cx="2143125" cy="757238"/>
          </a:xfrm>
          <a:prstGeom prst="rect">
            <a:avLst/>
          </a:prstGeom>
          <a:solidFill>
            <a:srgbClr val="F4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1"/>
          <p:cNvSpPr/>
          <p:nvPr/>
        </p:nvSpPr>
        <p:spPr>
          <a:xfrm>
            <a:off x="6757988" y="4271963"/>
            <a:ext cx="19431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SUCCESS METRICS (DAY 90)</a:t>
            </a:r>
            <a:endParaRPr lang="en-US" sz="450" dirty="0"/>
          </a:p>
        </p:txBody>
      </p:sp>
      <p:sp>
        <p:nvSpPr>
          <p:cNvPr id="70" name="Text 62"/>
          <p:cNvSpPr/>
          <p:nvPr/>
        </p:nvSpPr>
        <p:spPr>
          <a:xfrm>
            <a:off x="6757988" y="4400550"/>
            <a:ext cx="1943100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46% → &lt;12%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first-submission rejection rate</a:t>
            </a:r>
            <a:endParaRPr lang="en-US" sz="500" dirty="0"/>
          </a:p>
        </p:txBody>
      </p:sp>
      <p:sp>
        <p:nvSpPr>
          <p:cNvPr id="71" name="Text 63"/>
          <p:cNvSpPr/>
          <p:nvPr/>
        </p:nvSpPr>
        <p:spPr>
          <a:xfrm>
            <a:off x="6757988" y="4520208"/>
            <a:ext cx="1943100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9.2d → &lt;3d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approval cycle</a:t>
            </a:r>
            <a:endParaRPr lang="en-US" sz="500" dirty="0"/>
          </a:p>
        </p:txBody>
      </p:sp>
      <p:sp>
        <p:nvSpPr>
          <p:cNvPr id="72" name="Text 64"/>
          <p:cNvSpPr/>
          <p:nvPr/>
        </p:nvSpPr>
        <p:spPr>
          <a:xfrm>
            <a:off x="6757988" y="4639866"/>
            <a:ext cx="1943100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1.8× → 1.1×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avg. resubmissions</a:t>
            </a:r>
            <a:endParaRPr lang="en-US" sz="500" dirty="0"/>
          </a:p>
        </p:txBody>
      </p:sp>
      <p:sp>
        <p:nvSpPr>
          <p:cNvPr id="73" name="Text 65"/>
          <p:cNvSpPr/>
          <p:nvPr/>
        </p:nvSpPr>
        <p:spPr>
          <a:xfrm>
            <a:off x="6757988" y="4759523"/>
            <a:ext cx="1943100" cy="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A008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€25M → €0</a:t>
            </a:r>
            <a:r>
              <a:rPr lang="en-US" sz="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ARR leakage from delays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Microsoft Office PowerPoint</Application>
  <PresentationFormat>On-screen Show (16:9)</PresentationFormat>
  <Paragraphs>207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Ngo, Kelly</cp:lastModifiedBy>
  <cp:revision>3</cp:revision>
  <dcterms:created xsi:type="dcterms:W3CDTF">2026-06-24T15:46:29Z</dcterms:created>
  <dcterms:modified xsi:type="dcterms:W3CDTF">2026-06-24T16:05:13Z</dcterms:modified>
</cp:coreProperties>
</file>